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63" r:id="rId3"/>
    <p:sldId id="264" r:id="rId5"/>
    <p:sldId id="256" r:id="rId6"/>
    <p:sldId id="265" r:id="rId7"/>
    <p:sldId id="258" r:id="rId8"/>
    <p:sldId id="259" r:id="rId9"/>
    <p:sldId id="257" r:id="rId10"/>
    <p:sldId id="260" r:id="rId11"/>
    <p:sldId id="270" r:id="rId12"/>
    <p:sldId id="271" r:id="rId13"/>
  </p:sldIdLst>
  <p:sldSz cx="12191365" cy="6861175" type="screen4x3"/>
  <p:notesSz cx="6858000" cy="9144000"/>
  <p:custDataLst>
    <p:tags r:id="rId1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1" userDrawn="1">
          <p15:clr>
            <a:srgbClr val="A4A3A4"/>
          </p15:clr>
        </p15:guide>
        <p15:guide id="2" pos="28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241"/>
        <p:guide pos="282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enovo\Downloads\test_cases%20(1)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各模块用例数（合计 44 条）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0.0105124835742444"/>
          <c:y val="0.228530534351145"/>
          <c:w val="0.947437582128778"/>
          <c:h val="0.65911259541984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用例数</c:f>
              <c:strCache>
                <c:ptCount val="1"/>
                <c:pt idx="0">
                  <c:v>用例数</c:v>
                </c:pt>
              </c:strCache>
            </c:strRef>
          </c:tx>
          <c:spPr>
            <a:solidFill>
              <a:srgbClr val="004098"/>
            </a:solidFill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Data'!$A$2:$A$5</c:f>
              <c:strCache>
                <c:ptCount val="4"/>
                <c:pt idx="0">
                  <c:v>基础计数</c:v>
                </c:pt>
                <c:pt idx="1">
                  <c:v>难词/长词/音节词</c:v>
                </c:pt>
                <c:pt idx="2">
                  <c:v>英文可读性与句数</c:v>
                </c:pt>
                <c:pt idx="3">
                  <c:v>多语言与特殊场景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14</c:v>
                </c:pt>
                <c:pt idx="1">
                  <c:v>10</c:v>
                </c:pt>
                <c:pt idx="2">
                  <c:v>14</c:v>
                </c:pt>
                <c:pt idx="3">
                  <c:v>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 cap="flat" cmpd="sng" algn="ctr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5011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各批次通过率（%，按完全通过计）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通过率</c:f>
              <c:strCache>
                <c:ptCount val="1"/>
                <c:pt idx="0">
                  <c:v>通过率</c:v>
                </c:pt>
              </c:strCache>
            </c:strRef>
          </c:tx>
          <c:spPr>
            <a:solidFill>
              <a:srgbClr val="004098"/>
            </a:solidFill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Data'!$A$2:$A$6</c:f>
              <c:strCache>
                <c:ptCount val="5"/>
                <c:pt idx="0">
                  <c:v>计数首轮</c:v>
                </c:pt>
                <c:pt idx="1">
                  <c:v>计数回归</c:v>
                </c:pt>
                <c:pt idx="2">
                  <c:v>上游修复前</c:v>
                </c:pt>
                <c:pt idx="3">
                  <c:v>上游修复后</c:v>
                </c:pt>
                <c:pt idx="4">
                  <c:v>可读性指标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70.8</c:v>
                </c:pt>
                <c:pt idx="1">
                  <c:v>100</c:v>
                </c:pt>
                <c:pt idx="2">
                  <c:v>81.9</c:v>
                </c:pt>
                <c:pt idx="3">
                  <c:v>98.7</c:v>
                </c:pt>
                <c:pt idx="4">
                  <c:v>80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 cap="flat" cmpd="sng" algn="ctr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5011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b="1" i="0" u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测试结果</a:t>
            </a:r>
            <a:endParaRPr b="1" i="0" u="non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c:rich>
      </c:tx>
      <c:layout>
        <c:manualLayout>
          <c:xMode val="edge"/>
          <c:yMode val="edge"/>
          <c:x val="0.42397289712716"/>
          <c:y val="0.038760910700116"/>
        </c:manualLayout>
      </c:layout>
      <c:overlay val="0"/>
    </c:title>
    <c:autoTitleDeleted val="0"/>
    <c:view3D>
      <c:rotX val="25"/>
      <c:rotY val="0"/>
      <c:depthPercent val="100"/>
      <c:rAngAx val="0"/>
      <c:perspective val="0"/>
    </c:view3D>
    <c:floor>
      <c:thickness val="0"/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0.00446561476629949"/>
          <c:y val="0.147643693816399"/>
          <c:w val="0.892527537957726"/>
          <c:h val="0.806864614546445"/>
        </c:manualLayout>
      </c:layout>
      <c:pie3DChart>
        <c:varyColors val="1"/>
        <c:ser>
          <c:idx val="0"/>
          <c:order val="0"/>
          <c:tx>
            <c:strRef>
              <c:f>"测试结果"</c:f>
              <c:strCache>
                <c:ptCount val="1"/>
                <c:pt idx="0">
                  <c:v>测试结果</c:v>
                </c:pt>
              </c:strCache>
            </c:strRef>
          </c:tx>
          <c:spPr>
            <a:ln w="25400">
              <a:noFill/>
            </a:ln>
          </c:spPr>
          <c:explosion val="0"/>
          <c:dPt>
            <c:idx val="0"/>
            <c:bubble3D val="0"/>
            <c:spPr>
              <a:solidFill>
                <a:srgbClr val="9999FF"/>
              </a:solidFill>
              <a:ln w="25400">
                <a:noFill/>
              </a:ln>
            </c:spPr>
          </c:dPt>
          <c:dPt>
            <c:idx val="1"/>
            <c:bubble3D val="0"/>
            <c:spPr>
              <a:solidFill>
                <a:srgbClr val="993366"/>
              </a:solidFill>
              <a:ln w="25400">
                <a:noFill/>
              </a:ln>
            </c:spPr>
          </c:dPt>
          <c:dPt>
            <c:idx val="2"/>
            <c:bubble3D val="0"/>
            <c:spPr>
              <a:solidFill>
                <a:srgbClr val="808000"/>
              </a:solidFill>
              <a:ln w="25400">
                <a:noFill/>
              </a:ln>
            </c:spPr>
          </c:dPt>
          <c:dPt>
            <c:idx val="3"/>
            <c:bubble3D val="0"/>
            <c:spPr>
              <a:solidFill>
                <a:srgbClr val="FFCC99"/>
              </a:solidFill>
              <a:ln w="25400">
                <a:noFill/>
              </a:ln>
            </c:spPr>
          </c:dPt>
          <c:dLbls>
            <c:delete val="1"/>
          </c:dLbls>
          <c:cat>
            <c:strRef>
              <c:f>'[test_cases (1).xlsx]Information文档信息'!$B$40:$B$43</c:f>
              <c:strCache>
                <c:ptCount val="4"/>
                <c:pt idx="0">
                  <c:v>OK项</c:v>
                </c:pt>
                <c:pt idx="1">
                  <c:v>POK项</c:v>
                </c:pt>
                <c:pt idx="2">
                  <c:v>NG项</c:v>
                </c:pt>
                <c:pt idx="3">
                  <c:v>NT项</c:v>
                </c:pt>
              </c:strCache>
            </c:strRef>
          </c:cat>
          <c:val>
            <c:numRef>
              <c:f>'[test_cases (1).xlsx]Information文档信息'!$E$40:$E$43</c:f>
              <c:numCache>
                <c:formatCode>0.00%</c:formatCode>
                <c:ptCount val="4"/>
                <c:pt idx="0">
                  <c:v>0.704545454545455</c:v>
                </c:pt>
                <c:pt idx="1">
                  <c:v>0.113636363636364</c:v>
                </c:pt>
                <c:pt idx="2">
                  <c:v>0.159090909090909</c:v>
                </c:pt>
                <c:pt idx="3">
                  <c:v>0.0227272727272727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</c:pie3DChart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0.764066686513843"/>
          <c:y val="0.384636338872242"/>
          <c:w val="0.170288776421554"/>
          <c:h val="0.570144374829747"/>
        </c:manualLayout>
      </c:layout>
      <c:overlay val="0"/>
      <c:spPr>
        <a:solidFill>
          <a:srgbClr val="FFFFFF"/>
        </a:solidFill>
      </c:spPr>
      <c:txPr>
        <a:bodyPr rot="0" spcFirstLastPara="0" vertOverflow="ellipsis" vert="horz" wrap="square" anchor="ctr" anchorCtr="1"/>
        <a:lstStyle/>
        <a:p>
          <a:pPr>
            <a:defRPr lang="zh-CN" sz="965" b="0" i="0" u="none" strike="noStrike" kern="1200" baseline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defRPr>
          </a:pPr>
        </a:p>
      </c:txPr>
    </c:legend>
    <c:plotVisOnly val="1"/>
    <c:dispBlanksAs val="gap"/>
    <c:showDLblsOverMax val="0"/>
  </c:chart>
  <c:spPr>
    <a:solidFill>
      <a:srgbClr val="FFFFFF"/>
    </a:solidFill>
    <a:ln w="3175">
      <a:solidFill>
        <a:srgbClr val="000000"/>
      </a:solidFill>
      <a:prstDash val="solid"/>
      <a:round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7212" y="1143000"/>
            <a:ext cx="548357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9.png"/><Relationship Id="rId3" Type="http://schemas.openxmlformats.org/officeDocument/2006/relationships/image" Target="../media/image4.png"/><Relationship Id="rId2" Type="http://schemas.openxmlformats.org/officeDocument/2006/relationships/chart" Target="../charts/chart3.xml"/><Relationship Id="rId1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16" name="图片 15" descr="华科大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10490"/>
            <a:ext cx="3847465" cy="1346835"/>
          </a:xfrm>
          <a:prstGeom prst="rect">
            <a:avLst/>
          </a:prstGeom>
        </p:spPr>
      </p:pic>
      <p:pic>
        <p:nvPicPr>
          <p:cNvPr id="4" name="图片 3" descr="D:/图片1.png图片1"/>
          <p:cNvPicPr>
            <a:picLocks noChangeAspect="1"/>
          </p:cNvPicPr>
          <p:nvPr/>
        </p:nvPicPr>
        <p:blipFill>
          <a:blip r:embed="rId2"/>
          <a:srcRect l="10309" r="20218" b="10052"/>
          <a:stretch>
            <a:fillRect/>
          </a:stretch>
        </p:blipFill>
        <p:spPr>
          <a:xfrm>
            <a:off x="3565525" y="0"/>
            <a:ext cx="8626475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62000">
                <a:srgbClr val="0056A6">
                  <a:alpha val="100000"/>
                  <a:lumMod val="96000"/>
                  <a:lumOff val="4000"/>
                </a:srgbClr>
              </a:gs>
              <a:gs pos="6000">
                <a:schemeClr val="accent1">
                  <a:lumMod val="53000"/>
                  <a:lumOff val="47000"/>
                  <a:alpha val="0"/>
                </a:schemeClr>
              </a:gs>
              <a:gs pos="100000">
                <a:srgbClr val="0056A6">
                  <a:alpha val="100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666750" y="3745865"/>
            <a:ext cx="6324600" cy="43815"/>
          </a:xfrm>
          <a:prstGeom prst="line">
            <a:avLst/>
          </a:prstGeom>
          <a:ln w="28575" cmpd="sng">
            <a:solidFill>
              <a:schemeClr val="bg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3" name="图片 12" descr="华科大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132455" cy="109664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1691640"/>
            <a:ext cx="10515600" cy="7385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3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lang="zh-CN" sz="4800">
                <a:latin typeface="微软雅黑" panose="020B0503020204020204" charset="-122"/>
                <a:ea typeface="微软雅黑" panose="020B0503020204020204" charset="-122"/>
              </a:rPr>
              <a:t>textstat 计数与可读性指标测试</a:t>
            </a:r>
            <a:endParaRPr lang="zh-CN" sz="48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6750" y="3025140"/>
            <a:ext cx="9966960" cy="4305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26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sz="2800">
                <a:latin typeface="微软雅黑" panose="020B0503020204020204" charset="-122"/>
                <a:ea typeface="微软雅黑" panose="020B0503020204020204" charset="-122"/>
              </a:rPr>
              <a:t>软件测试与质量保证实践 · 模块一成果汇报</a:t>
            </a:r>
            <a:endParaRPr sz="28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85800" y="4297680"/>
            <a:ext cx="66979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900"/>
              </a:spcAft>
              <a:defRPr sz="23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lang="zh-CN">
                <a:latin typeface="微软雅黑" panose="020B0503020204020204" charset="-122"/>
                <a:ea typeface="微软雅黑" panose="020B0503020204020204" charset="-122"/>
              </a:rPr>
              <a:t>汇报人：管映涵、韩迎小</a:t>
            </a:r>
            <a:endParaRPr lang="zh-CN">
              <a:latin typeface="微软雅黑" panose="020B0503020204020204" charset="-122"/>
              <a:ea typeface="微软雅黑" panose="020B0503020204020204" charset="-122"/>
            </a:endParaRPr>
          </a:p>
          <a:p>
            <a:pPr algn="r">
              <a:spcAft>
                <a:spcPts val="900"/>
              </a:spcAft>
              <a:defRPr sz="23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                    2026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年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9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月</a:t>
            </a:r>
            <a:r>
              <a:rPr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58495" y="5699760"/>
            <a:ext cx="10058400" cy="2768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44 条自动化用例 · 3 个缺陷已修复回归 · 上游失败 77 → 2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 l="3256" t="-6868" r="4770" b="-1340"/>
          <a:stretch>
            <a:fillRect/>
          </a:stretch>
        </p:blipFill>
        <p:spPr>
          <a:xfrm>
            <a:off x="9389745" y="6247765"/>
            <a:ext cx="2313940" cy="41021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594360" y="987552"/>
            <a:ext cx="10972800" cy="4457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0056A6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被测对象与核心功能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594360" y="6461252"/>
            <a:ext cx="8641080" cy="1536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D667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华中科技大学 · 软件测试与质量保证实践 · 模块一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594360" y="1773936"/>
            <a:ext cx="5715000" cy="941832"/>
          </a:xfrm>
          <a:prstGeom prst="rect">
            <a:avLst/>
          </a:prstGeom>
          <a:solidFill>
            <a:srgbClr val="E7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04672" y="1938528"/>
            <a:ext cx="5349240" cy="6153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textstat 0.7.7：Python 文本统计与可读性指标库，被测分支 assignment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822960" y="3017520"/>
            <a:ext cx="1691640" cy="3225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0056A6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计数与预处理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2587752" y="3017520"/>
            <a:ext cx="3566160" cy="9690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9 </a:t>
            </a:r>
            <a:r>
              <a:rPr lang="zh-CN">
                <a:latin typeface="微软雅黑" panose="020B0503020204020204" charset="-122"/>
                <a:ea typeface="微软雅黑" panose="020B0503020204020204" charset="-122"/>
              </a:rPr>
              <a:t>个函数</a:t>
            </a:r>
            <a:r>
              <a:rPr>
                <a:latin typeface="微软雅黑" panose="020B0503020204020204" charset="-122"/>
                <a:ea typeface="微软雅黑" panose="020B0503020204020204" charset="-122"/>
              </a:rPr>
              <a:t>：字符、字母、词、句、音节、难词、长词、单/多音节词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822960" y="4224655"/>
            <a:ext cx="1691640" cy="3225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0056A6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可读性指标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2533142" y="4224655"/>
            <a:ext cx="3566160" cy="9690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16 项：Flesch、SMOG、ARI、Dale-Chall、Gunning Fog、Text Standard 等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594360" y="5328920"/>
            <a:ext cx="5715000" cy="918845"/>
          </a:xfrm>
          <a:prstGeom prst="rect">
            <a:avLst/>
          </a:prstGeom>
          <a:solidFill>
            <a:srgbClr val="00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0250" y="5431790"/>
            <a:ext cx="4921885" cy="6692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900"/>
              </a:spcAft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上层的可读性指标全部建立在下层计数之上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spcAft>
                <a:spcPts val="900"/>
              </a:spcAft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底层错一处，上层十几项指标一起错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2" name="页眉校园配图" descr="crop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56267"/>
          </a:xfrm>
          <a:prstGeom prst="rect">
            <a:avLst/>
          </a:prstGeom>
        </p:spPr>
      </p:pic>
      <p:pic>
        <p:nvPicPr>
          <p:cNvPr id="83" name="校徽与校名标识" descr="crop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004" y="36459"/>
            <a:ext cx="2224018" cy="568765"/>
          </a:xfrm>
          <a:prstGeom prst="rect">
            <a:avLst/>
          </a:prstGeom>
        </p:spPr>
      </p:pic>
      <p:sp>
        <p:nvSpPr>
          <p:cNvPr id="84" name="框架"/>
          <p:cNvSpPr/>
          <p:nvPr/>
        </p:nvSpPr>
        <p:spPr>
          <a:xfrm>
            <a:off x="2705282" y="0"/>
            <a:ext cx="1538583" cy="685435"/>
          </a:xfrm>
          <a:prstGeom prst="rect">
            <a:avLst/>
          </a:prstGeom>
          <a:solidFill>
            <a:srgbClr val="00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文字：任务定义"/>
          <p:cNvSpPr txBox="1"/>
          <p:nvPr/>
        </p:nvSpPr>
        <p:spPr>
          <a:xfrm>
            <a:off x="2987465" y="-6563"/>
            <a:ext cx="1016000" cy="6642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被测对象</a:t>
            </a:r>
            <a:endParaRPr 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测试范围</a:t>
            </a:r>
            <a:endParaRPr 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框架"/>
          <p:cNvSpPr/>
          <p:nvPr/>
        </p:nvSpPr>
        <p:spPr>
          <a:xfrm>
            <a:off x="4170947" y="0"/>
            <a:ext cx="1553167" cy="6416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文字：研究背景"/>
          <p:cNvSpPr txBox="1"/>
          <p:nvPr/>
        </p:nvSpPr>
        <p:spPr>
          <a:xfrm>
            <a:off x="4483282" y="145837"/>
            <a:ext cx="1016000" cy="3321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用例设计</a:t>
            </a:r>
            <a:endParaRPr 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框架"/>
          <p:cNvSpPr/>
          <p:nvPr/>
        </p:nvSpPr>
        <p:spPr>
          <a:xfrm>
            <a:off x="5651195" y="0"/>
            <a:ext cx="1516708" cy="68543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文字：问题挑战"/>
          <p:cNvSpPr txBox="1"/>
          <p:nvPr/>
        </p:nvSpPr>
        <p:spPr>
          <a:xfrm>
            <a:off x="5818300" y="145837"/>
            <a:ext cx="1270000" cy="3321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自动化实现</a:t>
            </a:r>
            <a:endParaRPr 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" name="框架"/>
          <p:cNvSpPr/>
          <p:nvPr/>
        </p:nvSpPr>
        <p:spPr>
          <a:xfrm>
            <a:off x="7175195" y="0"/>
            <a:ext cx="1713588" cy="6416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文字：研究方法"/>
          <p:cNvSpPr txBox="1"/>
          <p:nvPr/>
        </p:nvSpPr>
        <p:spPr>
          <a:xfrm>
            <a:off x="7567740" y="145837"/>
            <a:ext cx="1016000" cy="3321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执行结果</a:t>
            </a:r>
            <a:endParaRPr 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" name="框架"/>
          <p:cNvSpPr/>
          <p:nvPr/>
        </p:nvSpPr>
        <p:spPr>
          <a:xfrm>
            <a:off x="8815865" y="0"/>
            <a:ext cx="1531291" cy="6416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文字：实验结果"/>
          <p:cNvSpPr txBox="1"/>
          <p:nvPr/>
        </p:nvSpPr>
        <p:spPr>
          <a:xfrm>
            <a:off x="9117262" y="145837"/>
            <a:ext cx="1016000" cy="3321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缺陷分析</a:t>
            </a:r>
            <a:endParaRPr 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" name="框架"/>
          <p:cNvSpPr/>
          <p:nvPr/>
        </p:nvSpPr>
        <p:spPr>
          <a:xfrm>
            <a:off x="10325281" y="0"/>
            <a:ext cx="1691712" cy="6416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文字：总结展望"/>
          <p:cNvSpPr txBox="1"/>
          <p:nvPr/>
        </p:nvSpPr>
        <p:spPr>
          <a:xfrm>
            <a:off x="10579888" y="145837"/>
            <a:ext cx="1270000" cy="3321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成员贡献度</a:t>
            </a:r>
            <a:endParaRPr 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8" name="框架"/>
          <p:cNvSpPr/>
          <p:nvPr/>
        </p:nvSpPr>
        <p:spPr>
          <a:xfrm>
            <a:off x="6694170" y="1778635"/>
            <a:ext cx="4872990" cy="1365250"/>
          </a:xfrm>
          <a:prstGeom prst="roundRect">
            <a:avLst>
              <a:gd name="adj" fmla="val 8000"/>
            </a:avLst>
          </a:prstGeom>
          <a:solidFill>
            <a:srgbClr val="E4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" name="框架"/>
          <p:cNvSpPr/>
          <p:nvPr/>
        </p:nvSpPr>
        <p:spPr>
          <a:xfrm>
            <a:off x="6694170" y="4554220"/>
            <a:ext cx="4872990" cy="1352550"/>
          </a:xfrm>
          <a:prstGeom prst="roundRect">
            <a:avLst>
              <a:gd name="adj" fmla="val 8000"/>
            </a:avLst>
          </a:prstGeom>
          <a:solidFill>
            <a:srgbClr val="E4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87" name="方向箭头"/>
          <p:cNvSpPr/>
          <p:nvPr/>
        </p:nvSpPr>
        <p:spPr>
          <a:xfrm rot="16200000">
            <a:off x="8742045" y="3570605"/>
            <a:ext cx="675005" cy="620395"/>
          </a:xfrm>
          <a:prstGeom prst="rightArrow">
            <a:avLst/>
          </a:prstGeom>
          <a:solidFill>
            <a:srgbClr val="4B9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4" name="TextBox 71"/>
          <p:cNvSpPr txBox="1"/>
          <p:nvPr/>
        </p:nvSpPr>
        <p:spPr>
          <a:xfrm>
            <a:off x="9491980" y="3719830"/>
            <a:ext cx="1691640" cy="3225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p>
            <a:pPr>
              <a:spcAft>
                <a:spcPts val="900"/>
              </a:spcAft>
              <a:defRPr sz="2100" b="1">
                <a:solidFill>
                  <a:srgbClr val="0056A6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lang="zh-CN">
                <a:latin typeface="微软雅黑" panose="020B0503020204020204" charset="-122"/>
                <a:ea typeface="微软雅黑" panose="020B0503020204020204" charset="-122"/>
              </a:rPr>
              <a:t>层层</a:t>
            </a:r>
            <a:r>
              <a:rPr lang="zh-CN">
                <a:latin typeface="微软雅黑" panose="020B0503020204020204" charset="-122"/>
                <a:ea typeface="微软雅黑" panose="020B0503020204020204" charset="-122"/>
              </a:rPr>
              <a:t>复用</a:t>
            </a:r>
            <a:endParaRPr 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框架"/>
          <p:cNvSpPr/>
          <p:nvPr/>
        </p:nvSpPr>
        <p:spPr>
          <a:xfrm>
            <a:off x="6904355" y="1904365"/>
            <a:ext cx="2175510" cy="376555"/>
          </a:xfrm>
          <a:prstGeom prst="roundRect">
            <a:avLst>
              <a:gd name="adj" fmla="val 8000"/>
            </a:avLst>
          </a:prstGeom>
          <a:solidFill>
            <a:srgbClr val="D2EAFD"/>
          </a:solidFill>
          <a:ln w="8890">
            <a:solidFill>
              <a:srgbClr val="78B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指标层</a:t>
            </a:r>
            <a:endParaRPr 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框架"/>
          <p:cNvSpPr/>
          <p:nvPr/>
        </p:nvSpPr>
        <p:spPr>
          <a:xfrm>
            <a:off x="6904355" y="4761230"/>
            <a:ext cx="2180590" cy="376555"/>
          </a:xfrm>
          <a:prstGeom prst="roundRect">
            <a:avLst>
              <a:gd name="adj" fmla="val 8000"/>
            </a:avLst>
          </a:prstGeom>
          <a:solidFill>
            <a:srgbClr val="D2EAFD"/>
          </a:solidFill>
          <a:ln w="8890">
            <a:solidFill>
              <a:srgbClr val="78B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计数与预处理层</a:t>
            </a:r>
            <a:endParaRPr 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904355" y="2357120"/>
            <a:ext cx="4218940" cy="7023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lesch / SMOG / ARI / Gunning Fog / Text Standard …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964680" y="5210810"/>
            <a:ext cx="4218940" cy="6534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字符数 </a:t>
            </a:r>
            <a:r>
              <a:rPr lang="en-US" altLang="zh-CN"/>
              <a:t>/</a:t>
            </a:r>
            <a:r>
              <a:rPr lang="zh-CN" altLang="en-US"/>
              <a:t>字母数 </a:t>
            </a:r>
            <a:r>
              <a:rPr lang="en-US" altLang="zh-CN"/>
              <a:t>/</a:t>
            </a:r>
            <a:r>
              <a:rPr lang="zh-CN" altLang="en-US"/>
              <a:t> 词数 </a:t>
            </a:r>
            <a:r>
              <a:rPr lang="en-US" altLang="zh-CN"/>
              <a:t>/</a:t>
            </a:r>
            <a:r>
              <a:rPr lang="zh-CN" altLang="en-US"/>
              <a:t> 句数 </a:t>
            </a:r>
            <a:r>
              <a:rPr lang="en-US" altLang="zh-CN"/>
              <a:t>/</a:t>
            </a:r>
            <a:r>
              <a:rPr lang="zh-CN" altLang="en-US"/>
              <a:t> 音节数 </a:t>
            </a:r>
            <a:r>
              <a:rPr lang="en-US" altLang="zh-CN"/>
              <a:t>/</a:t>
            </a:r>
            <a:r>
              <a:rPr lang="zh-CN" altLang="en-US"/>
              <a:t> 难词数 </a:t>
            </a:r>
            <a:r>
              <a:rPr lang="en-US" altLang="zh-CN"/>
              <a:t>/</a:t>
            </a:r>
            <a:r>
              <a:rPr lang="zh-CN" altLang="en-US"/>
              <a:t> 长词数 </a:t>
            </a:r>
            <a:r>
              <a:rPr lang="en-US" altLang="zh-CN"/>
              <a:t>/</a:t>
            </a:r>
            <a:r>
              <a:rPr lang="zh-CN" altLang="en-US"/>
              <a:t> 单、多音节词数</a:t>
            </a:r>
            <a:endParaRPr lang="zh-CN" altLang="en-US"/>
          </a:p>
        </p:txBody>
      </p:sp>
      <p:sp>
        <p:nvSpPr>
          <p:cNvPr id="20" name="框架"/>
          <p:cNvSpPr/>
          <p:nvPr/>
        </p:nvSpPr>
        <p:spPr>
          <a:xfrm>
            <a:off x="328295" y="1494155"/>
            <a:ext cx="6120765" cy="4931410"/>
          </a:xfrm>
          <a:prstGeom prst="rect">
            <a:avLst/>
          </a:prstGeom>
          <a:noFill/>
          <a:ln w="8890">
            <a:solidFill>
              <a:srgbClr val="0070D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1" name="框架"/>
          <p:cNvSpPr/>
          <p:nvPr/>
        </p:nvSpPr>
        <p:spPr>
          <a:xfrm>
            <a:off x="6470650" y="1496060"/>
            <a:ext cx="5347335" cy="4740910"/>
          </a:xfrm>
          <a:prstGeom prst="rect">
            <a:avLst/>
          </a:prstGeom>
          <a:noFill/>
          <a:ln w="8890">
            <a:solidFill>
              <a:srgbClr val="568D2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页眉校园配图" descr="crop_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56267"/>
          </a:xfrm>
          <a:prstGeom prst="rect">
            <a:avLst/>
          </a:prstGeom>
        </p:spPr>
      </p:pic>
      <p:pic>
        <p:nvPicPr>
          <p:cNvPr id="3" name="校徽与校名标识" descr="crop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4" y="36459"/>
            <a:ext cx="2224018" cy="568765"/>
          </a:xfrm>
          <a:prstGeom prst="rect">
            <a:avLst/>
          </a:prstGeom>
        </p:spPr>
      </p:pic>
      <p:sp>
        <p:nvSpPr>
          <p:cNvPr id="16" name="文字：问题挑战：只看几张正常图，如何发现未知缺陷？"/>
          <p:cNvSpPr txBox="1"/>
          <p:nvPr/>
        </p:nvSpPr>
        <p:spPr>
          <a:xfrm>
            <a:off x="328133" y="816688"/>
            <a:ext cx="4069080" cy="5911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560" b="1" i="0">
                <a:solidFill>
                  <a:srgbClr val="0056A6"/>
                </a:solidFill>
                <a:latin typeface="微软雅黑" panose="020B0503020204020204" charset="-122"/>
                <a:ea typeface="微软雅黑" panose="020B0503020204020204" charset="-122"/>
              </a:rPr>
              <a:t>测试范围与</a:t>
            </a:r>
            <a:r>
              <a:rPr lang="zh-CN" sz="3560" b="1" i="0">
                <a:solidFill>
                  <a:srgbClr val="0056A6"/>
                </a:solidFill>
                <a:latin typeface="微软雅黑" panose="020B0503020204020204" charset="-122"/>
                <a:ea typeface="微软雅黑" panose="020B0503020204020204" charset="-122"/>
              </a:rPr>
              <a:t>不覆盖项</a:t>
            </a:r>
            <a:endParaRPr lang="zh-CN" sz="3560" b="1" i="0">
              <a:solidFill>
                <a:srgbClr val="005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字：少样本工业视觉异常检测 · 仅提供少量正常支持图"/>
          <p:cNvSpPr txBox="1"/>
          <p:nvPr/>
        </p:nvSpPr>
        <p:spPr>
          <a:xfrm>
            <a:off x="350009" y="1407330"/>
            <a:ext cx="6489700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35" b="1" i="0">
                <a:solidFill>
                  <a:srgbClr val="5D6677"/>
                </a:solidFill>
                <a:latin typeface="微软雅黑" panose="020B0503020204020204" charset="-122"/>
                <a:ea typeface="微软雅黑" panose="020B0503020204020204" charset="-122"/>
              </a:rPr>
              <a:t>NT 说明：不具备判定依据时如实标注，不用猜测结果凑通过率</a:t>
            </a:r>
            <a:endParaRPr sz="1835" b="1" i="0">
              <a:solidFill>
                <a:srgbClr val="5D66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字：明德  厚学  求是  创新"/>
          <p:cNvSpPr txBox="1"/>
          <p:nvPr/>
        </p:nvSpPr>
        <p:spPr>
          <a:xfrm>
            <a:off x="9822142" y="6453300"/>
            <a:ext cx="2078181" cy="3135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056A6"/>
                </a:solidFill>
                <a:latin typeface="华文行楷" panose="02010800040101010101" charset="-122"/>
                <a:ea typeface="华文行楷" panose="02010800040101010101" charset="-122"/>
              </a:rPr>
              <a:t>明德  厚学  求是  创新</a:t>
            </a:r>
            <a:endParaRPr sz="1700" b="1" i="0">
              <a:solidFill>
                <a:srgbClr val="0056A6"/>
              </a:solidFill>
              <a:latin typeface="华文行楷" panose="02010800040101010101" charset="-122"/>
              <a:ea typeface="华文行楷" panose="02010800040101010101" charset="-122"/>
            </a:endParaRPr>
          </a:p>
        </p:txBody>
      </p:sp>
      <p:sp>
        <p:nvSpPr>
          <p:cNvPr id="20" name="框架"/>
          <p:cNvSpPr/>
          <p:nvPr/>
        </p:nvSpPr>
        <p:spPr>
          <a:xfrm>
            <a:off x="320842" y="1786507"/>
            <a:ext cx="11557606" cy="1086487"/>
          </a:xfrm>
          <a:prstGeom prst="roundRect">
            <a:avLst>
              <a:gd name="adj" fmla="val 8000"/>
            </a:avLst>
          </a:prstGeom>
          <a:solidFill>
            <a:srgbClr val="E7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文字：正常支持图 / （少量）"/>
          <p:cNvSpPr txBox="1"/>
          <p:nvPr/>
        </p:nvSpPr>
        <p:spPr>
          <a:xfrm>
            <a:off x="1790991" y="2049014"/>
            <a:ext cx="812800" cy="531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200" b="1" i="0">
                <a:solidFill>
                  <a:srgbClr val="0056A6"/>
                </a:solidFill>
                <a:latin typeface="微软雅黑" panose="020B0503020204020204" charset="-122"/>
                <a:ea typeface="微软雅黑" panose="020B0503020204020204" charset="-122"/>
              </a:rPr>
              <a:t>项目</a:t>
            </a:r>
            <a:endParaRPr lang="zh-CN" sz="3200" b="1" i="0">
              <a:solidFill>
                <a:srgbClr val="005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字：···"/>
          <p:cNvSpPr txBox="1"/>
          <p:nvPr/>
        </p:nvSpPr>
        <p:spPr>
          <a:xfrm>
            <a:off x="4482990" y="2049014"/>
            <a:ext cx="510430" cy="65626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30" b="1" i="0">
                <a:solidFill>
                  <a:srgbClr val="0056A6"/>
                </a:solidFill>
                <a:latin typeface="微软雅黑" panose="020B0503020204020204" charset="-122"/>
                <a:ea typeface="微软雅黑" panose="020B0503020204020204" charset="-122"/>
              </a:rPr>
              <a:t>···</a:t>
            </a:r>
            <a:endParaRPr sz="2930" b="1" i="0">
              <a:solidFill>
                <a:srgbClr val="005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7" name="连线"/>
          <p:cNvCxnSpPr/>
          <p:nvPr/>
        </p:nvCxnSpPr>
        <p:spPr>
          <a:xfrm>
            <a:off x="5499342" y="1917411"/>
            <a:ext cx="0" cy="787521"/>
          </a:xfrm>
          <a:prstGeom prst="line">
            <a:avLst/>
          </a:prstGeom>
          <a:ln w="7291">
            <a:solidFill>
              <a:srgbClr val="79AF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文字：查询图 / （未知状态）"/>
          <p:cNvSpPr txBox="1"/>
          <p:nvPr/>
        </p:nvSpPr>
        <p:spPr>
          <a:xfrm>
            <a:off x="8075820" y="2049014"/>
            <a:ext cx="812800" cy="531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200" b="1" i="0">
                <a:solidFill>
                  <a:srgbClr val="0056A6"/>
                </a:solidFill>
                <a:latin typeface="微软雅黑" panose="020B0503020204020204" charset="-122"/>
                <a:ea typeface="微软雅黑" panose="020B0503020204020204" charset="-122"/>
              </a:rPr>
              <a:t>说明</a:t>
            </a:r>
            <a:endParaRPr lang="zh-CN" sz="3200" b="1" i="0">
              <a:solidFill>
                <a:srgbClr val="005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框架"/>
          <p:cNvSpPr/>
          <p:nvPr/>
        </p:nvSpPr>
        <p:spPr>
          <a:xfrm>
            <a:off x="320675" y="2974975"/>
            <a:ext cx="3923030" cy="707390"/>
          </a:xfrm>
          <a:prstGeom prst="roundRect">
            <a:avLst>
              <a:gd name="adj" fmla="val 8000"/>
            </a:avLst>
          </a:prstGeom>
          <a:solidFill>
            <a:srgbClr val="E7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框架"/>
          <p:cNvSpPr/>
          <p:nvPr/>
        </p:nvSpPr>
        <p:spPr>
          <a:xfrm>
            <a:off x="5499100" y="2974975"/>
            <a:ext cx="6350635" cy="707390"/>
          </a:xfrm>
          <a:prstGeom prst="roundRect">
            <a:avLst>
              <a:gd name="adj" fmla="val 8000"/>
            </a:avLst>
          </a:prstGeom>
          <a:solidFill>
            <a:srgbClr val="E7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独立圆形"/>
          <p:cNvSpPr/>
          <p:nvPr/>
        </p:nvSpPr>
        <p:spPr>
          <a:xfrm>
            <a:off x="532306" y="3084459"/>
            <a:ext cx="437511" cy="437511"/>
          </a:xfrm>
          <a:prstGeom prst="ellipse">
            <a:avLst/>
          </a:prstGeom>
          <a:solidFill>
            <a:srgbClr val="00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文字：1"/>
          <p:cNvSpPr txBox="1"/>
          <p:nvPr/>
        </p:nvSpPr>
        <p:spPr>
          <a:xfrm>
            <a:off x="532306" y="3077167"/>
            <a:ext cx="437511" cy="43751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252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字：缺陷稀缺且未知"/>
          <p:cNvSpPr txBox="1"/>
          <p:nvPr/>
        </p:nvSpPr>
        <p:spPr>
          <a:xfrm>
            <a:off x="2063597" y="3142636"/>
            <a:ext cx="934720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35" b="1" i="0">
                <a:solidFill>
                  <a:srgbClr val="0056A6"/>
                </a:solidFill>
                <a:latin typeface="微软雅黑" panose="020B0503020204020204" charset="-122"/>
                <a:ea typeface="微软雅黑" panose="020B0503020204020204" charset="-122"/>
              </a:rPr>
              <a:t>本次覆盖</a:t>
            </a:r>
            <a:endParaRPr lang="zh-CN" sz="1835" b="1" i="0">
              <a:solidFill>
                <a:srgbClr val="005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方向箭头"/>
          <p:cNvSpPr/>
          <p:nvPr/>
        </p:nvSpPr>
        <p:spPr>
          <a:xfrm>
            <a:off x="4743604" y="3106620"/>
            <a:ext cx="495846" cy="364593"/>
          </a:xfrm>
          <a:prstGeom prst="rightArrow">
            <a:avLst/>
          </a:prstGeom>
          <a:solidFill>
            <a:srgbClr val="4B9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文字：用正常性建模替代缺陷分类"/>
          <p:cNvSpPr txBox="1"/>
          <p:nvPr/>
        </p:nvSpPr>
        <p:spPr>
          <a:xfrm>
            <a:off x="5499100" y="3030220"/>
            <a:ext cx="6345555" cy="64579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20" b="1" i="0">
                <a:solidFill>
                  <a:srgbClr val="0056A6"/>
                </a:solidFill>
                <a:latin typeface="微软雅黑" panose="020B0503020204020204" charset="-122"/>
                <a:ea typeface="微软雅黑" panose="020B0503020204020204" charset="-122"/>
              </a:rPr>
              <a:t>计数与预处理 24 条 + 可读性指标与句数依赖 20 条，</a:t>
            </a:r>
            <a:endParaRPr sz="1720" b="1" i="0">
              <a:solidFill>
                <a:srgbClr val="0056A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20" b="1" i="0">
                <a:solidFill>
                  <a:srgbClr val="0056A6"/>
                </a:solidFill>
                <a:latin typeface="微软雅黑" panose="020B0503020204020204" charset="-122"/>
                <a:ea typeface="微软雅黑" panose="020B0503020204020204" charset="-122"/>
              </a:rPr>
              <a:t>合计 44 条，全部自动化</a:t>
            </a:r>
            <a:endParaRPr sz="1720" b="1" i="0">
              <a:solidFill>
                <a:srgbClr val="005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独立圆形"/>
          <p:cNvSpPr/>
          <p:nvPr/>
        </p:nvSpPr>
        <p:spPr>
          <a:xfrm>
            <a:off x="1312535" y="3106334"/>
            <a:ext cx="328133" cy="328133"/>
          </a:xfrm>
          <a:prstGeom prst="ellipse">
            <a:avLst/>
          </a:prstGeom>
          <a:noFill/>
          <a:ln w="43751">
            <a:solidFill>
              <a:srgbClr val="00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连线"/>
          <p:cNvCxnSpPr/>
          <p:nvPr/>
        </p:nvCxnSpPr>
        <p:spPr>
          <a:xfrm>
            <a:off x="1596918" y="3412593"/>
            <a:ext cx="131254" cy="131253"/>
          </a:xfrm>
          <a:prstGeom prst="line">
            <a:avLst/>
          </a:prstGeom>
          <a:ln w="72918">
            <a:solidFill>
              <a:srgbClr val="005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框架"/>
          <p:cNvSpPr/>
          <p:nvPr/>
        </p:nvSpPr>
        <p:spPr>
          <a:xfrm>
            <a:off x="320675" y="3711575"/>
            <a:ext cx="3925570" cy="707390"/>
          </a:xfrm>
          <a:prstGeom prst="roundRect">
            <a:avLst>
              <a:gd name="adj" fmla="val 8000"/>
            </a:avLst>
          </a:prstGeom>
          <a:solidFill>
            <a:srgbClr val="E7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框架"/>
          <p:cNvSpPr/>
          <p:nvPr/>
        </p:nvSpPr>
        <p:spPr>
          <a:xfrm>
            <a:off x="5499100" y="3735070"/>
            <a:ext cx="6350635" cy="707390"/>
          </a:xfrm>
          <a:prstGeom prst="roundRect">
            <a:avLst>
              <a:gd name="adj" fmla="val 8000"/>
            </a:avLst>
          </a:prstGeom>
          <a:solidFill>
            <a:srgbClr val="E7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独立圆形"/>
          <p:cNvSpPr/>
          <p:nvPr/>
        </p:nvSpPr>
        <p:spPr>
          <a:xfrm>
            <a:off x="532306" y="3820937"/>
            <a:ext cx="437511" cy="437511"/>
          </a:xfrm>
          <a:prstGeom prst="ellipse">
            <a:avLst/>
          </a:prstGeom>
          <a:solidFill>
            <a:srgbClr val="00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文字：2"/>
          <p:cNvSpPr txBox="1"/>
          <p:nvPr/>
        </p:nvSpPr>
        <p:spPr>
          <a:xfrm>
            <a:off x="532306" y="3813645"/>
            <a:ext cx="437511" cy="43751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252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文字：正常样本覆盖不足"/>
          <p:cNvSpPr txBox="1"/>
          <p:nvPr/>
        </p:nvSpPr>
        <p:spPr>
          <a:xfrm>
            <a:off x="2063597" y="3864509"/>
            <a:ext cx="934720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35" b="1" i="0">
                <a:solidFill>
                  <a:srgbClr val="0056A6"/>
                </a:solidFill>
                <a:latin typeface="微软雅黑" panose="020B0503020204020204" charset="-122"/>
                <a:ea typeface="微软雅黑" panose="020B0503020204020204" charset="-122"/>
              </a:rPr>
              <a:t>覆盖</a:t>
            </a:r>
            <a:r>
              <a:rPr lang="zh-CN" sz="1835" b="1" i="0">
                <a:solidFill>
                  <a:srgbClr val="0056A6"/>
                </a:solidFill>
                <a:latin typeface="微软雅黑" panose="020B0503020204020204" charset="-122"/>
                <a:ea typeface="微软雅黑" panose="020B0503020204020204" charset="-122"/>
              </a:rPr>
              <a:t>场景</a:t>
            </a:r>
            <a:endParaRPr lang="zh-CN" sz="1835" b="1" i="0">
              <a:solidFill>
                <a:srgbClr val="005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方向箭头"/>
          <p:cNvSpPr/>
          <p:nvPr/>
        </p:nvSpPr>
        <p:spPr>
          <a:xfrm>
            <a:off x="4743604" y="3864688"/>
            <a:ext cx="495846" cy="364593"/>
          </a:xfrm>
          <a:prstGeom prst="rightArrow">
            <a:avLst/>
          </a:prstGeom>
          <a:solidFill>
            <a:srgbClr val="4B9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文字：借助预训练表征与正常原型"/>
          <p:cNvSpPr txBox="1"/>
          <p:nvPr/>
        </p:nvSpPr>
        <p:spPr>
          <a:xfrm>
            <a:off x="5499100" y="3813810"/>
            <a:ext cx="6341745" cy="64071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20" b="1" i="0">
                <a:solidFill>
                  <a:srgbClr val="0056A6"/>
                </a:solidFill>
                <a:latin typeface="微软雅黑" panose="020B0503020204020204" charset="-122"/>
                <a:ea typeface="微软雅黑" panose="020B0503020204020204" charset="-122"/>
              </a:rPr>
              <a:t>正常文本、空值、阈值边界、多语言、</a:t>
            </a:r>
            <a:endParaRPr sz="1720" b="1" i="0">
              <a:solidFill>
                <a:srgbClr val="0056A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20" b="1" i="0">
                <a:solidFill>
                  <a:srgbClr val="0056A6"/>
                </a:solidFill>
                <a:latin typeface="微软雅黑" panose="020B0503020204020204" charset="-122"/>
                <a:ea typeface="微软雅黑" panose="020B0503020204020204" charset="-122"/>
              </a:rPr>
              <a:t>缩写与小数点、词典未收录词、词形变化</a:t>
            </a:r>
            <a:endParaRPr sz="1720" b="1" i="0">
              <a:solidFill>
                <a:srgbClr val="005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框架"/>
          <p:cNvSpPr/>
          <p:nvPr/>
        </p:nvSpPr>
        <p:spPr>
          <a:xfrm>
            <a:off x="1305243" y="3871980"/>
            <a:ext cx="393760" cy="160421"/>
          </a:xfrm>
          <a:prstGeom prst="rect">
            <a:avLst/>
          </a:prstGeom>
          <a:noFill/>
          <a:ln w="8890">
            <a:solidFill>
              <a:srgbClr val="00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独立圆形"/>
          <p:cNvSpPr/>
          <p:nvPr/>
        </p:nvSpPr>
        <p:spPr>
          <a:xfrm>
            <a:off x="1305243" y="3871980"/>
            <a:ext cx="393760" cy="123961"/>
          </a:xfrm>
          <a:prstGeom prst="ellipse">
            <a:avLst/>
          </a:prstGeom>
          <a:solidFill>
            <a:srgbClr val="E7F4FD"/>
          </a:solidFill>
          <a:ln w="29167">
            <a:solidFill>
              <a:srgbClr val="00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框架"/>
          <p:cNvSpPr/>
          <p:nvPr/>
        </p:nvSpPr>
        <p:spPr>
          <a:xfrm>
            <a:off x="1305243" y="3995942"/>
            <a:ext cx="393760" cy="160421"/>
          </a:xfrm>
          <a:prstGeom prst="rect">
            <a:avLst/>
          </a:prstGeom>
          <a:noFill/>
          <a:ln w="8890">
            <a:solidFill>
              <a:srgbClr val="00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独立圆形"/>
          <p:cNvSpPr/>
          <p:nvPr/>
        </p:nvSpPr>
        <p:spPr>
          <a:xfrm>
            <a:off x="1305243" y="3995942"/>
            <a:ext cx="393760" cy="123961"/>
          </a:xfrm>
          <a:prstGeom prst="ellipse">
            <a:avLst/>
          </a:prstGeom>
          <a:solidFill>
            <a:srgbClr val="E7F4FD"/>
          </a:solidFill>
          <a:ln w="29167">
            <a:solidFill>
              <a:srgbClr val="00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框架"/>
          <p:cNvSpPr/>
          <p:nvPr/>
        </p:nvSpPr>
        <p:spPr>
          <a:xfrm>
            <a:off x="1305243" y="4119903"/>
            <a:ext cx="393760" cy="160421"/>
          </a:xfrm>
          <a:prstGeom prst="rect">
            <a:avLst/>
          </a:prstGeom>
          <a:noFill/>
          <a:ln w="8890">
            <a:solidFill>
              <a:srgbClr val="00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独立圆形"/>
          <p:cNvSpPr/>
          <p:nvPr/>
        </p:nvSpPr>
        <p:spPr>
          <a:xfrm>
            <a:off x="1305243" y="4119903"/>
            <a:ext cx="393760" cy="123961"/>
          </a:xfrm>
          <a:prstGeom prst="ellipse">
            <a:avLst/>
          </a:prstGeom>
          <a:solidFill>
            <a:srgbClr val="E7F4FD"/>
          </a:solidFill>
          <a:ln w="29167">
            <a:solidFill>
              <a:srgbClr val="00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框架"/>
          <p:cNvSpPr/>
          <p:nvPr/>
        </p:nvSpPr>
        <p:spPr>
          <a:xfrm>
            <a:off x="320675" y="4498975"/>
            <a:ext cx="3925570" cy="707390"/>
          </a:xfrm>
          <a:prstGeom prst="roundRect">
            <a:avLst>
              <a:gd name="adj" fmla="val 8000"/>
            </a:avLst>
          </a:prstGeom>
          <a:solidFill>
            <a:srgbClr val="E7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框架"/>
          <p:cNvSpPr/>
          <p:nvPr/>
        </p:nvSpPr>
        <p:spPr>
          <a:xfrm>
            <a:off x="5499100" y="4498975"/>
            <a:ext cx="6350635" cy="707390"/>
          </a:xfrm>
          <a:prstGeom prst="roundRect">
            <a:avLst>
              <a:gd name="adj" fmla="val 8000"/>
            </a:avLst>
          </a:prstGeom>
          <a:solidFill>
            <a:srgbClr val="E7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独立圆形"/>
          <p:cNvSpPr/>
          <p:nvPr/>
        </p:nvSpPr>
        <p:spPr>
          <a:xfrm>
            <a:off x="532306" y="4608458"/>
            <a:ext cx="437511" cy="437511"/>
          </a:xfrm>
          <a:prstGeom prst="ellipse">
            <a:avLst/>
          </a:prstGeom>
          <a:solidFill>
            <a:srgbClr val="00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文字：3"/>
          <p:cNvSpPr txBox="1"/>
          <p:nvPr/>
        </p:nvSpPr>
        <p:spPr>
          <a:xfrm>
            <a:off x="532306" y="4601167"/>
            <a:ext cx="437511" cy="43751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252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文字：缺陷尺度差异大"/>
          <p:cNvSpPr txBox="1"/>
          <p:nvPr/>
        </p:nvSpPr>
        <p:spPr>
          <a:xfrm>
            <a:off x="2063597" y="4652030"/>
            <a:ext cx="1168400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35" b="1" i="0">
                <a:solidFill>
                  <a:srgbClr val="0056A6"/>
                </a:solidFill>
                <a:latin typeface="微软雅黑" panose="020B0503020204020204" charset="-122"/>
                <a:ea typeface="微软雅黑" panose="020B0503020204020204" charset="-122"/>
              </a:rPr>
              <a:t>本次</a:t>
            </a:r>
            <a:r>
              <a:rPr lang="zh-CN" sz="1835" b="1" i="0">
                <a:solidFill>
                  <a:srgbClr val="0056A6"/>
                </a:solidFill>
                <a:latin typeface="微软雅黑" panose="020B0503020204020204" charset="-122"/>
                <a:ea typeface="微软雅黑" panose="020B0503020204020204" charset="-122"/>
              </a:rPr>
              <a:t>不覆盖</a:t>
            </a:r>
            <a:endParaRPr lang="zh-CN" sz="1835" b="1" i="0">
              <a:solidFill>
                <a:srgbClr val="005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方向箭头"/>
          <p:cNvSpPr/>
          <p:nvPr/>
        </p:nvSpPr>
        <p:spPr>
          <a:xfrm>
            <a:off x="4743604" y="4666815"/>
            <a:ext cx="495846" cy="364593"/>
          </a:xfrm>
          <a:prstGeom prst="rightArrow">
            <a:avLst/>
          </a:prstGeom>
          <a:solidFill>
            <a:srgbClr val="4B9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文字：局部特征与多尺度窗口"/>
          <p:cNvSpPr txBox="1"/>
          <p:nvPr/>
        </p:nvSpPr>
        <p:spPr>
          <a:xfrm>
            <a:off x="6525210" y="4671524"/>
            <a:ext cx="4298950" cy="28511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20" b="1" i="0">
                <a:solidFill>
                  <a:srgbClr val="0056A6"/>
                </a:solidFill>
                <a:latin typeface="微软雅黑" panose="020B0503020204020204" charset="-122"/>
                <a:ea typeface="微软雅黑" panose="020B0503020204020204" charset="-122"/>
              </a:rPr>
              <a:t>界面、网络接口、打包发布、模块二 AI 功能</a:t>
            </a:r>
            <a:endParaRPr sz="1720" b="1" i="0">
              <a:solidFill>
                <a:srgbClr val="005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0" name="连线"/>
          <p:cNvCxnSpPr/>
          <p:nvPr/>
        </p:nvCxnSpPr>
        <p:spPr>
          <a:xfrm flipH="1">
            <a:off x="1312535" y="4644918"/>
            <a:ext cx="116670" cy="0"/>
          </a:xfrm>
          <a:prstGeom prst="line">
            <a:avLst/>
          </a:prstGeom>
          <a:ln w="43751">
            <a:solidFill>
              <a:srgbClr val="005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连线"/>
          <p:cNvCxnSpPr/>
          <p:nvPr/>
        </p:nvCxnSpPr>
        <p:spPr>
          <a:xfrm>
            <a:off x="1312535" y="4644918"/>
            <a:ext cx="0" cy="116670"/>
          </a:xfrm>
          <a:prstGeom prst="line">
            <a:avLst/>
          </a:prstGeom>
          <a:ln w="43751">
            <a:solidFill>
              <a:srgbClr val="005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连线"/>
          <p:cNvCxnSpPr/>
          <p:nvPr/>
        </p:nvCxnSpPr>
        <p:spPr>
          <a:xfrm>
            <a:off x="1575042" y="4644918"/>
            <a:ext cx="116670" cy="0"/>
          </a:xfrm>
          <a:prstGeom prst="line">
            <a:avLst/>
          </a:prstGeom>
          <a:ln w="43751">
            <a:solidFill>
              <a:srgbClr val="005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连线"/>
          <p:cNvCxnSpPr/>
          <p:nvPr/>
        </p:nvCxnSpPr>
        <p:spPr>
          <a:xfrm>
            <a:off x="1691712" y="4644918"/>
            <a:ext cx="0" cy="116670"/>
          </a:xfrm>
          <a:prstGeom prst="line">
            <a:avLst/>
          </a:prstGeom>
          <a:ln w="43751">
            <a:solidFill>
              <a:srgbClr val="005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连线"/>
          <p:cNvCxnSpPr/>
          <p:nvPr/>
        </p:nvCxnSpPr>
        <p:spPr>
          <a:xfrm flipH="1">
            <a:off x="1312535" y="5031387"/>
            <a:ext cx="116670" cy="0"/>
          </a:xfrm>
          <a:prstGeom prst="line">
            <a:avLst/>
          </a:prstGeom>
          <a:ln w="43751">
            <a:solidFill>
              <a:srgbClr val="005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连线"/>
          <p:cNvCxnSpPr/>
          <p:nvPr/>
        </p:nvCxnSpPr>
        <p:spPr>
          <a:xfrm flipV="1">
            <a:off x="1312535" y="4914717"/>
            <a:ext cx="0" cy="116670"/>
          </a:xfrm>
          <a:prstGeom prst="line">
            <a:avLst/>
          </a:prstGeom>
          <a:ln w="43751">
            <a:solidFill>
              <a:srgbClr val="005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连线"/>
          <p:cNvCxnSpPr/>
          <p:nvPr/>
        </p:nvCxnSpPr>
        <p:spPr>
          <a:xfrm>
            <a:off x="1575042" y="5031387"/>
            <a:ext cx="116670" cy="0"/>
          </a:xfrm>
          <a:prstGeom prst="line">
            <a:avLst/>
          </a:prstGeom>
          <a:ln w="43751">
            <a:solidFill>
              <a:srgbClr val="005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连线"/>
          <p:cNvCxnSpPr/>
          <p:nvPr/>
        </p:nvCxnSpPr>
        <p:spPr>
          <a:xfrm flipV="1">
            <a:off x="1691712" y="4914717"/>
            <a:ext cx="0" cy="116670"/>
          </a:xfrm>
          <a:prstGeom prst="line">
            <a:avLst/>
          </a:prstGeom>
          <a:ln w="43751">
            <a:solidFill>
              <a:srgbClr val="005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框架"/>
          <p:cNvSpPr/>
          <p:nvPr/>
        </p:nvSpPr>
        <p:spPr>
          <a:xfrm>
            <a:off x="320675" y="5300980"/>
            <a:ext cx="3923030" cy="707390"/>
          </a:xfrm>
          <a:prstGeom prst="roundRect">
            <a:avLst>
              <a:gd name="adj" fmla="val 8000"/>
            </a:avLst>
          </a:prstGeom>
          <a:solidFill>
            <a:srgbClr val="E7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框架"/>
          <p:cNvSpPr/>
          <p:nvPr/>
        </p:nvSpPr>
        <p:spPr>
          <a:xfrm>
            <a:off x="5499100" y="5300980"/>
            <a:ext cx="6350635" cy="707390"/>
          </a:xfrm>
          <a:prstGeom prst="roundRect">
            <a:avLst>
              <a:gd name="adj" fmla="val 8000"/>
            </a:avLst>
          </a:prstGeom>
          <a:solidFill>
            <a:srgbClr val="E7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独立圆形"/>
          <p:cNvSpPr/>
          <p:nvPr/>
        </p:nvSpPr>
        <p:spPr>
          <a:xfrm>
            <a:off x="532306" y="5410564"/>
            <a:ext cx="437511" cy="437511"/>
          </a:xfrm>
          <a:prstGeom prst="ellipse">
            <a:avLst/>
          </a:prstGeom>
          <a:solidFill>
            <a:srgbClr val="00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文字：4"/>
          <p:cNvSpPr txBox="1"/>
          <p:nvPr/>
        </p:nvSpPr>
        <p:spPr>
          <a:xfrm>
            <a:off x="532306" y="5403272"/>
            <a:ext cx="437511" cy="43751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252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" name="文字：正常变化易误报"/>
          <p:cNvSpPr txBox="1"/>
          <p:nvPr/>
        </p:nvSpPr>
        <p:spPr>
          <a:xfrm>
            <a:off x="2063597" y="5461756"/>
            <a:ext cx="1168400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35" b="1" i="0">
                <a:solidFill>
                  <a:srgbClr val="0056A6"/>
                </a:solidFill>
                <a:latin typeface="微软雅黑" panose="020B0503020204020204" charset="-122"/>
                <a:ea typeface="微软雅黑" panose="020B0503020204020204" charset="-122"/>
              </a:rPr>
              <a:t>不覆盖</a:t>
            </a:r>
            <a:r>
              <a:rPr lang="zh-CN" sz="1835" b="1" i="0">
                <a:solidFill>
                  <a:srgbClr val="0056A6"/>
                </a:solidFill>
                <a:latin typeface="微软雅黑" panose="020B0503020204020204" charset="-122"/>
                <a:ea typeface="微软雅黑" panose="020B0503020204020204" charset="-122"/>
              </a:rPr>
              <a:t>原因</a:t>
            </a:r>
            <a:endParaRPr lang="zh-CN" sz="1835" b="1" i="0">
              <a:solidFill>
                <a:srgbClr val="005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" name="方向箭头"/>
          <p:cNvSpPr/>
          <p:nvPr/>
        </p:nvSpPr>
        <p:spPr>
          <a:xfrm>
            <a:off x="4743604" y="5476540"/>
            <a:ext cx="495846" cy="364593"/>
          </a:xfrm>
          <a:prstGeom prst="rightArrow">
            <a:avLst/>
          </a:prstGeom>
          <a:solidFill>
            <a:srgbClr val="4B9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文字：融合语义、参考图与查询适应"/>
          <p:cNvSpPr txBox="1"/>
          <p:nvPr/>
        </p:nvSpPr>
        <p:spPr>
          <a:xfrm>
            <a:off x="5995670" y="5349875"/>
            <a:ext cx="4973955" cy="65849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20" b="1" i="0">
                <a:solidFill>
                  <a:srgbClr val="0056A6"/>
                </a:solidFill>
                <a:latin typeface="微软雅黑" panose="020B0503020204020204" charset="-122"/>
                <a:ea typeface="微软雅黑" panose="020B0503020204020204" charset="-122"/>
              </a:rPr>
              <a:t>非本模块职责；</a:t>
            </a:r>
            <a:endParaRPr sz="1720" b="1" i="0">
              <a:solidFill>
                <a:srgbClr val="0056A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20" b="1" i="0">
                <a:solidFill>
                  <a:srgbClr val="0056A6"/>
                </a:solidFill>
                <a:latin typeface="微软雅黑" panose="020B0503020204020204" charset="-122"/>
                <a:ea typeface="微软雅黑" panose="020B0503020204020204" charset="-122"/>
              </a:rPr>
              <a:t>中文可读性缺少公认校准基准，记为 NT（不判定）</a:t>
            </a:r>
            <a:endParaRPr sz="1720" b="1" i="0">
              <a:solidFill>
                <a:srgbClr val="005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08" name="连线"/>
          <p:cNvCxnSpPr/>
          <p:nvPr/>
        </p:nvCxnSpPr>
        <p:spPr>
          <a:xfrm flipV="1">
            <a:off x="1276076" y="5447023"/>
            <a:ext cx="218756" cy="386469"/>
          </a:xfrm>
          <a:prstGeom prst="line">
            <a:avLst/>
          </a:prstGeom>
          <a:ln w="36459">
            <a:solidFill>
              <a:srgbClr val="005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连线"/>
          <p:cNvCxnSpPr/>
          <p:nvPr/>
        </p:nvCxnSpPr>
        <p:spPr>
          <a:xfrm>
            <a:off x="1494832" y="5447023"/>
            <a:ext cx="226048" cy="386469"/>
          </a:xfrm>
          <a:prstGeom prst="line">
            <a:avLst/>
          </a:prstGeom>
          <a:ln w="36459">
            <a:solidFill>
              <a:srgbClr val="005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连线"/>
          <p:cNvCxnSpPr/>
          <p:nvPr/>
        </p:nvCxnSpPr>
        <p:spPr>
          <a:xfrm flipH="1">
            <a:off x="1276076" y="5833492"/>
            <a:ext cx="444804" cy="0"/>
          </a:xfrm>
          <a:prstGeom prst="line">
            <a:avLst/>
          </a:prstGeom>
          <a:ln w="36459">
            <a:solidFill>
              <a:srgbClr val="005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文字：!"/>
          <p:cNvSpPr txBox="1"/>
          <p:nvPr/>
        </p:nvSpPr>
        <p:spPr>
          <a:xfrm>
            <a:off x="1414621" y="5519942"/>
            <a:ext cx="175004" cy="35000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40" b="1" i="0">
                <a:solidFill>
                  <a:srgbClr val="0056A6"/>
                </a:solidFill>
                <a:latin typeface="微软雅黑" panose="020B0503020204020204" charset="-122"/>
                <a:ea typeface="微软雅黑" panose="020B0503020204020204" charset="-122"/>
              </a:rPr>
              <a:t>!</a:t>
            </a:r>
            <a:endParaRPr sz="2240" b="1" i="0">
              <a:solidFill>
                <a:srgbClr val="005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8" name="框架"/>
          <p:cNvSpPr/>
          <p:nvPr/>
        </p:nvSpPr>
        <p:spPr>
          <a:xfrm>
            <a:off x="2705282" y="0"/>
            <a:ext cx="1538583" cy="685435"/>
          </a:xfrm>
          <a:prstGeom prst="rect">
            <a:avLst/>
          </a:prstGeom>
          <a:solidFill>
            <a:srgbClr val="00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19" name="文字：任务定义"/>
          <p:cNvSpPr txBox="1"/>
          <p:nvPr/>
        </p:nvSpPr>
        <p:spPr>
          <a:xfrm>
            <a:off x="2987465" y="-6563"/>
            <a:ext cx="1016000" cy="6642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被测对象</a:t>
            </a:r>
            <a:endParaRPr 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测试范围</a:t>
            </a:r>
            <a:endParaRPr 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0" name="框架"/>
          <p:cNvSpPr/>
          <p:nvPr/>
        </p:nvSpPr>
        <p:spPr>
          <a:xfrm>
            <a:off x="4170947" y="0"/>
            <a:ext cx="1553167" cy="6416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21" name="文字：研究背景"/>
          <p:cNvSpPr txBox="1"/>
          <p:nvPr/>
        </p:nvSpPr>
        <p:spPr>
          <a:xfrm>
            <a:off x="4483282" y="145837"/>
            <a:ext cx="1016000" cy="3321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用例设计</a:t>
            </a:r>
            <a:endParaRPr 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2" name="框架"/>
          <p:cNvSpPr/>
          <p:nvPr/>
        </p:nvSpPr>
        <p:spPr>
          <a:xfrm>
            <a:off x="5651195" y="0"/>
            <a:ext cx="1516708" cy="68543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23" name="文字：问题挑战"/>
          <p:cNvSpPr txBox="1"/>
          <p:nvPr/>
        </p:nvSpPr>
        <p:spPr>
          <a:xfrm>
            <a:off x="5818300" y="145837"/>
            <a:ext cx="1270000" cy="3321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自动化实现</a:t>
            </a:r>
            <a:endParaRPr 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4" name="框架"/>
          <p:cNvSpPr/>
          <p:nvPr/>
        </p:nvSpPr>
        <p:spPr>
          <a:xfrm>
            <a:off x="7175195" y="0"/>
            <a:ext cx="1713588" cy="6416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25" name="文字：研究方法"/>
          <p:cNvSpPr txBox="1"/>
          <p:nvPr/>
        </p:nvSpPr>
        <p:spPr>
          <a:xfrm>
            <a:off x="7567740" y="145837"/>
            <a:ext cx="1016000" cy="3321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执行结果</a:t>
            </a:r>
            <a:endParaRPr 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6" name="框架"/>
          <p:cNvSpPr/>
          <p:nvPr/>
        </p:nvSpPr>
        <p:spPr>
          <a:xfrm>
            <a:off x="8815865" y="0"/>
            <a:ext cx="1531291" cy="6416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27" name="文字：实验结果"/>
          <p:cNvSpPr txBox="1"/>
          <p:nvPr/>
        </p:nvSpPr>
        <p:spPr>
          <a:xfrm>
            <a:off x="9117262" y="145837"/>
            <a:ext cx="1016000" cy="3321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缺陷分析</a:t>
            </a:r>
            <a:endParaRPr 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8" name="框架"/>
          <p:cNvSpPr/>
          <p:nvPr/>
        </p:nvSpPr>
        <p:spPr>
          <a:xfrm>
            <a:off x="10325281" y="0"/>
            <a:ext cx="1691712" cy="6416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29" name="文字：总结展望"/>
          <p:cNvSpPr txBox="1"/>
          <p:nvPr/>
        </p:nvSpPr>
        <p:spPr>
          <a:xfrm>
            <a:off x="10579888" y="145837"/>
            <a:ext cx="1270000" cy="3321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成员贡献度</a:t>
            </a:r>
            <a:endParaRPr 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2" name="TextBox 63"/>
          <p:cNvSpPr txBox="1"/>
          <p:nvPr/>
        </p:nvSpPr>
        <p:spPr>
          <a:xfrm>
            <a:off x="594360" y="6461252"/>
            <a:ext cx="8641080" cy="1536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p>
            <a:pPr>
              <a:spcAft>
                <a:spcPts val="900"/>
              </a:spcAft>
              <a:defRPr sz="1000" b="0">
                <a:solidFill>
                  <a:srgbClr val="5D667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华中科技大学 · 软件测试与质量保证实践 · 模块一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3256" t="-6868" r="4770" b="-1340"/>
          <a:stretch>
            <a:fillRect/>
          </a:stretch>
        </p:blipFill>
        <p:spPr>
          <a:xfrm>
            <a:off x="9389745" y="6247765"/>
            <a:ext cx="2313940" cy="41021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594360" y="987552"/>
            <a:ext cx="10972800" cy="4457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0056A6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测试策略与用例设计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594360" y="1856105"/>
            <a:ext cx="3410585" cy="2504440"/>
          </a:xfrm>
          <a:prstGeom prst="rect">
            <a:avLst/>
          </a:prstGeom>
          <a:solidFill>
            <a:srgbClr val="E7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95528" y="2020824"/>
            <a:ext cx="5029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78993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1371600" y="2020824"/>
            <a:ext cx="2468880" cy="3225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0056A6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等价类划分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758063" y="2604135"/>
            <a:ext cx="3108960" cy="1615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正常英文、空字符串、纯标点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数字与字母混排、词典未收录词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多语言文本（西/意/阿）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4389120" y="1856105"/>
            <a:ext cx="3410585" cy="2505075"/>
          </a:xfrm>
          <a:prstGeom prst="rect">
            <a:avLst/>
          </a:prstGeom>
          <a:solidFill>
            <a:srgbClr val="E7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590288" y="2020824"/>
            <a:ext cx="5029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78993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5166359" y="2020824"/>
            <a:ext cx="2468880" cy="3225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0056A6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边界值分析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4599813" y="2610485"/>
            <a:ext cx="3108960" cy="13385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空字符串等最小输入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长词阈值 6 与 7 字母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困难词比例 5%、100 词截断、音节阈值 1–3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8183880" y="1856105"/>
            <a:ext cx="3410585" cy="2505710"/>
          </a:xfrm>
          <a:prstGeom prst="rect">
            <a:avLst/>
          </a:prstGeom>
          <a:solidFill>
            <a:srgbClr val="E7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385048" y="2020824"/>
            <a:ext cx="5029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78993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8961119" y="2020824"/>
            <a:ext cx="2468880" cy="3225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0056A6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场景法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8348218" y="2595880"/>
            <a:ext cx="3108960" cy="1615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分词 → 去标点 → 词典查询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spcAft>
                <a:spcPts val="900"/>
              </a:spcAft>
              <a:buNone/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 → 回退断词 → 计数 的完整链路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lang="zh-CN">
                <a:latin typeface="微软雅黑" panose="020B0503020204020204" charset="-122"/>
                <a:ea typeface="微软雅黑" panose="020B0503020204020204" charset="-122"/>
              </a:rPr>
              <a:t>常规文本与未收录词文本对照</a:t>
            </a:r>
            <a:endParaRPr 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593090" y="4455033"/>
            <a:ext cx="10972800" cy="3384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0056A6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lang="zh-CN">
                <a:latin typeface="微软雅黑" panose="020B0503020204020204" charset="-122"/>
                <a:ea typeface="微软雅黑" panose="020B0503020204020204" charset="-122"/>
              </a:rPr>
              <a:t>设计依据</a:t>
            </a:r>
            <a:endParaRPr 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593090" y="4960620"/>
            <a:ext cx="11001375" cy="76200"/>
          </a:xfrm>
          <a:prstGeom prst="rect">
            <a:avLst/>
          </a:prstGeom>
          <a:solidFill>
            <a:srgbClr val="00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94360" y="5312410"/>
            <a:ext cx="11000740" cy="6381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44 条用例的预期值全部由公式手算或按源码语义推导，不使用“先跑再抄”的结果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900"/>
              </a:spcAft>
              <a:defRPr sz="17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接口简单但分支多，用等价类与边界值覆盖主要分支；函数被上层指标复用，用场景法暴露跨函数缺陷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9" name="页眉校园配图" descr="crop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56267"/>
          </a:xfrm>
          <a:prstGeom prst="rect">
            <a:avLst/>
          </a:prstGeom>
        </p:spPr>
      </p:pic>
      <p:pic>
        <p:nvPicPr>
          <p:cNvPr id="100" name="校徽与校名标识" descr="crop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004" y="36459"/>
            <a:ext cx="2224018" cy="568765"/>
          </a:xfrm>
          <a:prstGeom prst="rect">
            <a:avLst/>
          </a:prstGeom>
        </p:spPr>
      </p:pic>
      <p:sp>
        <p:nvSpPr>
          <p:cNvPr id="101" name="框架"/>
          <p:cNvSpPr/>
          <p:nvPr/>
        </p:nvSpPr>
        <p:spPr>
          <a:xfrm>
            <a:off x="2705282" y="0"/>
            <a:ext cx="1538583" cy="6416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框架"/>
          <p:cNvSpPr/>
          <p:nvPr/>
        </p:nvSpPr>
        <p:spPr>
          <a:xfrm>
            <a:off x="10325281" y="0"/>
            <a:ext cx="1691712" cy="6416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94360" y="6461252"/>
            <a:ext cx="8641080" cy="1536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p>
            <a:pPr>
              <a:spcAft>
                <a:spcPts val="900"/>
              </a:spcAft>
              <a:defRPr sz="1000" b="0">
                <a:solidFill>
                  <a:srgbClr val="5D667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华中科技大学 · 软件测试与质量保证实践 · 模块一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框架"/>
          <p:cNvSpPr/>
          <p:nvPr/>
        </p:nvSpPr>
        <p:spPr>
          <a:xfrm>
            <a:off x="4185467" y="-6350"/>
            <a:ext cx="1538583" cy="685435"/>
          </a:xfrm>
          <a:prstGeom prst="rect">
            <a:avLst/>
          </a:prstGeom>
          <a:solidFill>
            <a:srgbClr val="00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" name="文字：任务定义"/>
          <p:cNvSpPr txBox="1"/>
          <p:nvPr/>
        </p:nvSpPr>
        <p:spPr>
          <a:xfrm>
            <a:off x="2987465" y="-6563"/>
            <a:ext cx="1016000" cy="6642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被测对象</a:t>
            </a:r>
            <a:endParaRPr 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测试范围</a:t>
            </a:r>
            <a:endParaRPr 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框架"/>
          <p:cNvSpPr/>
          <p:nvPr/>
        </p:nvSpPr>
        <p:spPr>
          <a:xfrm>
            <a:off x="4170947" y="0"/>
            <a:ext cx="1553167" cy="6416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6" name="文字：研究背景"/>
          <p:cNvSpPr txBox="1"/>
          <p:nvPr/>
        </p:nvSpPr>
        <p:spPr>
          <a:xfrm>
            <a:off x="4483282" y="145837"/>
            <a:ext cx="1016000" cy="3321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用例设计</a:t>
            </a:r>
            <a:endParaRPr 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框架"/>
          <p:cNvSpPr/>
          <p:nvPr/>
        </p:nvSpPr>
        <p:spPr>
          <a:xfrm>
            <a:off x="5651195" y="0"/>
            <a:ext cx="1516708" cy="68543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8" name="文字：问题挑战"/>
          <p:cNvSpPr txBox="1"/>
          <p:nvPr/>
        </p:nvSpPr>
        <p:spPr>
          <a:xfrm>
            <a:off x="5818300" y="145837"/>
            <a:ext cx="1270000" cy="3321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自动化实现</a:t>
            </a:r>
            <a:endParaRPr 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框架"/>
          <p:cNvSpPr/>
          <p:nvPr/>
        </p:nvSpPr>
        <p:spPr>
          <a:xfrm>
            <a:off x="7175195" y="0"/>
            <a:ext cx="1713588" cy="6416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" name="文字：研究方法"/>
          <p:cNvSpPr txBox="1"/>
          <p:nvPr/>
        </p:nvSpPr>
        <p:spPr>
          <a:xfrm>
            <a:off x="7567740" y="145837"/>
            <a:ext cx="1016000" cy="3321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执行结果</a:t>
            </a:r>
            <a:endParaRPr 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框架"/>
          <p:cNvSpPr/>
          <p:nvPr/>
        </p:nvSpPr>
        <p:spPr>
          <a:xfrm>
            <a:off x="8815865" y="0"/>
            <a:ext cx="1531291" cy="6416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2" name="文字：实验结果"/>
          <p:cNvSpPr txBox="1"/>
          <p:nvPr/>
        </p:nvSpPr>
        <p:spPr>
          <a:xfrm>
            <a:off x="9117262" y="145837"/>
            <a:ext cx="1016000" cy="3321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缺陷分析</a:t>
            </a:r>
            <a:endParaRPr 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字：总结展望"/>
          <p:cNvSpPr txBox="1"/>
          <p:nvPr/>
        </p:nvSpPr>
        <p:spPr>
          <a:xfrm>
            <a:off x="10579888" y="145837"/>
            <a:ext cx="1270000" cy="3321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成员贡献度</a:t>
            </a:r>
            <a:endParaRPr 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页眉校园配图" descr="crop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56267"/>
          </a:xfrm>
          <a:prstGeom prst="rect">
            <a:avLst/>
          </a:prstGeom>
        </p:spPr>
      </p:pic>
      <p:pic>
        <p:nvPicPr>
          <p:cNvPr id="3" name="校徽与校名标识" descr="crop_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004" y="36459"/>
            <a:ext cx="2224018" cy="568765"/>
          </a:xfrm>
          <a:prstGeom prst="rect">
            <a:avLst/>
          </a:prstGeom>
        </p:spPr>
      </p:pic>
      <p:sp>
        <p:nvSpPr>
          <p:cNvPr id="14" name="框架"/>
          <p:cNvSpPr/>
          <p:nvPr/>
        </p:nvSpPr>
        <p:spPr>
          <a:xfrm>
            <a:off x="10325281" y="0"/>
            <a:ext cx="1691712" cy="6416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文字：PatchCore：保留代表样本，再做最近邻比较"/>
          <p:cNvSpPr txBox="1"/>
          <p:nvPr/>
        </p:nvSpPr>
        <p:spPr>
          <a:xfrm>
            <a:off x="328133" y="816688"/>
            <a:ext cx="3616960" cy="5911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560" b="1" i="0">
                <a:solidFill>
                  <a:srgbClr val="0056A6"/>
                </a:solidFill>
                <a:latin typeface="微软雅黑" panose="020B0503020204020204" charset="-122"/>
                <a:ea typeface="微软雅黑" panose="020B0503020204020204" charset="-122"/>
              </a:rPr>
              <a:t>测试用例设计总览</a:t>
            </a:r>
            <a:endParaRPr sz="3560" b="1" i="0">
              <a:solidFill>
                <a:srgbClr val="005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字：明德  厚学  求是  创新"/>
          <p:cNvSpPr txBox="1"/>
          <p:nvPr/>
        </p:nvSpPr>
        <p:spPr>
          <a:xfrm>
            <a:off x="9822142" y="6453300"/>
            <a:ext cx="2078181" cy="3135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056A6"/>
                </a:solidFill>
                <a:latin typeface="华文行楷" panose="02010800040101010101" charset="-122"/>
                <a:ea typeface="华文行楷" panose="02010800040101010101" charset="-122"/>
              </a:rPr>
              <a:t>明德  厚学  求是  创新</a:t>
            </a:r>
            <a:endParaRPr sz="1700" b="1" i="0">
              <a:solidFill>
                <a:srgbClr val="0056A6"/>
              </a:solidFill>
              <a:latin typeface="华文行楷" panose="02010800040101010101" charset="-122"/>
              <a:ea typeface="华文行楷" panose="02010800040101010101" charset="-122"/>
            </a:endParaRPr>
          </a:p>
        </p:txBody>
      </p:sp>
      <p:sp>
        <p:nvSpPr>
          <p:cNvPr id="19" name="框架"/>
          <p:cNvSpPr/>
          <p:nvPr/>
        </p:nvSpPr>
        <p:spPr>
          <a:xfrm>
            <a:off x="218755" y="1465664"/>
            <a:ext cx="5972037" cy="4440746"/>
          </a:xfrm>
          <a:prstGeom prst="roundRect">
            <a:avLst>
              <a:gd name="adj" fmla="val 8000"/>
            </a:avLst>
          </a:prstGeom>
          <a:solidFill>
            <a:srgbClr val="E7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框架"/>
          <p:cNvSpPr/>
          <p:nvPr/>
        </p:nvSpPr>
        <p:spPr>
          <a:xfrm>
            <a:off x="6343922" y="1465664"/>
            <a:ext cx="5629320" cy="4469913"/>
          </a:xfrm>
          <a:prstGeom prst="roundRect">
            <a:avLst>
              <a:gd name="adj" fmla="val 8000"/>
            </a:avLst>
          </a:prstGeom>
          <a:solidFill>
            <a:srgbClr val="E7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连线"/>
          <p:cNvCxnSpPr/>
          <p:nvPr/>
        </p:nvCxnSpPr>
        <p:spPr>
          <a:xfrm>
            <a:off x="6548095" y="1757591"/>
            <a:ext cx="5228267" cy="0"/>
          </a:xfrm>
          <a:prstGeom prst="line">
            <a:avLst/>
          </a:prstGeom>
          <a:ln w="7291">
            <a:solidFill>
              <a:srgbClr val="005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框架"/>
          <p:cNvSpPr/>
          <p:nvPr/>
        </p:nvSpPr>
        <p:spPr>
          <a:xfrm>
            <a:off x="328295" y="1745615"/>
            <a:ext cx="5702300" cy="313817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文字：上：贪心 Coreset，覆盖更充分 / 下：随机抽样，可能漏掉正常模式"/>
          <p:cNvSpPr txBox="1"/>
          <p:nvPr/>
        </p:nvSpPr>
        <p:spPr>
          <a:xfrm>
            <a:off x="440690" y="5086985"/>
            <a:ext cx="5589905" cy="7651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8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用例分布：基础计数 14 · 难词长词音节词 10 </a:t>
            </a:r>
            <a:endParaRPr sz="178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8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英文可读性与句数 14 · 多语言与特殊场景 6</a:t>
            </a:r>
            <a:endParaRPr sz="178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endParaRPr sz="1780" b="0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框架"/>
          <p:cNvSpPr/>
          <p:nvPr/>
        </p:nvSpPr>
        <p:spPr>
          <a:xfrm>
            <a:off x="6497320" y="1884680"/>
            <a:ext cx="5315585" cy="995680"/>
          </a:xfrm>
          <a:prstGeom prst="roundRect">
            <a:avLst>
              <a:gd name="adj" fmla="val 8000"/>
            </a:avLst>
          </a:prstGeom>
          <a:solidFill>
            <a:srgbClr val="E1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独立圆形"/>
          <p:cNvSpPr/>
          <p:nvPr/>
        </p:nvSpPr>
        <p:spPr>
          <a:xfrm>
            <a:off x="6642889" y="2136516"/>
            <a:ext cx="401052" cy="401052"/>
          </a:xfrm>
          <a:prstGeom prst="ellipse">
            <a:avLst/>
          </a:prstGeom>
          <a:solidFill>
            <a:srgbClr val="00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文字：1"/>
          <p:cNvSpPr txBox="1"/>
          <p:nvPr/>
        </p:nvSpPr>
        <p:spPr>
          <a:xfrm>
            <a:off x="6642889" y="2129224"/>
            <a:ext cx="401052" cy="4010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4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214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框架"/>
          <p:cNvSpPr/>
          <p:nvPr/>
        </p:nvSpPr>
        <p:spPr>
          <a:xfrm>
            <a:off x="6497320" y="3037205"/>
            <a:ext cx="5315585" cy="2544445"/>
          </a:xfrm>
          <a:prstGeom prst="roundRect">
            <a:avLst>
              <a:gd name="adj" fmla="val 8000"/>
            </a:avLst>
          </a:prstGeom>
          <a:solidFill>
            <a:srgbClr val="E1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独立圆形"/>
          <p:cNvSpPr/>
          <p:nvPr/>
        </p:nvSpPr>
        <p:spPr>
          <a:xfrm>
            <a:off x="6679719" y="3229059"/>
            <a:ext cx="401052" cy="401052"/>
          </a:xfrm>
          <a:prstGeom prst="ellipse">
            <a:avLst/>
          </a:prstGeom>
          <a:solidFill>
            <a:srgbClr val="00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文字：2"/>
          <p:cNvSpPr txBox="1"/>
          <p:nvPr/>
        </p:nvSpPr>
        <p:spPr>
          <a:xfrm>
            <a:off x="6680354" y="3228117"/>
            <a:ext cx="401052" cy="4010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4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214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" name="框架"/>
          <p:cNvSpPr/>
          <p:nvPr/>
        </p:nvSpPr>
        <p:spPr>
          <a:xfrm>
            <a:off x="2705282" y="0"/>
            <a:ext cx="1538583" cy="6416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11" name="框架"/>
          <p:cNvSpPr/>
          <p:nvPr/>
        </p:nvSpPr>
        <p:spPr>
          <a:xfrm>
            <a:off x="10452281" y="127000"/>
            <a:ext cx="1691712" cy="6416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72" name="框架"/>
          <p:cNvSpPr/>
          <p:nvPr/>
        </p:nvSpPr>
        <p:spPr>
          <a:xfrm>
            <a:off x="4185467" y="-6350"/>
            <a:ext cx="1538583" cy="685435"/>
          </a:xfrm>
          <a:prstGeom prst="rect">
            <a:avLst/>
          </a:prstGeom>
          <a:solidFill>
            <a:srgbClr val="00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73" name="文字：任务定义"/>
          <p:cNvSpPr txBox="1"/>
          <p:nvPr/>
        </p:nvSpPr>
        <p:spPr>
          <a:xfrm>
            <a:off x="2987465" y="-6563"/>
            <a:ext cx="1016000" cy="6642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被测对象</a:t>
            </a:r>
            <a:endParaRPr 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测试范围</a:t>
            </a:r>
            <a:endParaRPr 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框架"/>
          <p:cNvSpPr/>
          <p:nvPr/>
        </p:nvSpPr>
        <p:spPr>
          <a:xfrm>
            <a:off x="4170947" y="0"/>
            <a:ext cx="1553167" cy="6416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75" name="文字：研究背景"/>
          <p:cNvSpPr txBox="1"/>
          <p:nvPr/>
        </p:nvSpPr>
        <p:spPr>
          <a:xfrm>
            <a:off x="4483282" y="145837"/>
            <a:ext cx="1016000" cy="3321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用例设计</a:t>
            </a:r>
            <a:endParaRPr 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框架"/>
          <p:cNvSpPr/>
          <p:nvPr/>
        </p:nvSpPr>
        <p:spPr>
          <a:xfrm>
            <a:off x="5651195" y="0"/>
            <a:ext cx="1516708" cy="68543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77" name="文字：问题挑战"/>
          <p:cNvSpPr txBox="1"/>
          <p:nvPr/>
        </p:nvSpPr>
        <p:spPr>
          <a:xfrm>
            <a:off x="5818300" y="145837"/>
            <a:ext cx="1270000" cy="3321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自动化实现</a:t>
            </a:r>
            <a:endParaRPr 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框架"/>
          <p:cNvSpPr/>
          <p:nvPr/>
        </p:nvSpPr>
        <p:spPr>
          <a:xfrm>
            <a:off x="7175195" y="0"/>
            <a:ext cx="1713588" cy="6416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79" name="文字：研究方法"/>
          <p:cNvSpPr txBox="1"/>
          <p:nvPr/>
        </p:nvSpPr>
        <p:spPr>
          <a:xfrm>
            <a:off x="7567740" y="145837"/>
            <a:ext cx="1016000" cy="3321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执行结果</a:t>
            </a:r>
            <a:endParaRPr 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框架"/>
          <p:cNvSpPr/>
          <p:nvPr/>
        </p:nvSpPr>
        <p:spPr>
          <a:xfrm>
            <a:off x="8815865" y="0"/>
            <a:ext cx="1531291" cy="6416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81" name="文字：实验结果"/>
          <p:cNvSpPr txBox="1"/>
          <p:nvPr/>
        </p:nvSpPr>
        <p:spPr>
          <a:xfrm>
            <a:off x="9117262" y="145837"/>
            <a:ext cx="1016000" cy="3321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缺陷分析</a:t>
            </a:r>
            <a:endParaRPr 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文字：总结展望"/>
          <p:cNvSpPr txBox="1"/>
          <p:nvPr/>
        </p:nvSpPr>
        <p:spPr>
          <a:xfrm>
            <a:off x="10579888" y="145837"/>
            <a:ext cx="1270000" cy="3321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成员贡献度</a:t>
            </a:r>
            <a:endParaRPr 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83" name="Chart"/>
          <p:cNvGraphicFramePr/>
          <p:nvPr/>
        </p:nvGraphicFramePr>
        <p:xfrm>
          <a:off x="685800" y="1998980"/>
          <a:ext cx="5315585" cy="2686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4" name="TextBox 63"/>
          <p:cNvSpPr txBox="1"/>
          <p:nvPr/>
        </p:nvSpPr>
        <p:spPr>
          <a:xfrm>
            <a:off x="594360" y="6461252"/>
            <a:ext cx="8641080" cy="1536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p>
            <a:pPr>
              <a:spcAft>
                <a:spcPts val="900"/>
              </a:spcAft>
              <a:defRPr sz="1000" b="0">
                <a:solidFill>
                  <a:srgbClr val="5D667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华中科技大学 · 软件测试与质量保证实践 · 模块一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矩形 84"/>
          <p:cNvSpPr>
            <a:spLocks noGrp="1"/>
          </p:cNvSpPr>
          <p:nvPr/>
        </p:nvSpPr>
        <p:spPr>
          <a:xfrm>
            <a:off x="7620000" y="1905000"/>
            <a:ext cx="2857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pPr algn="l">
              <a:defRPr sz="4050" b="1">
                <a:solidFill>
                  <a:srgbClr val="0040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050" b="1">
                <a:solidFill>
                  <a:srgbClr val="0040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44</a:t>
            </a:r>
            <a:endParaRPr sz="4050" b="1">
              <a:solidFill>
                <a:srgbClr val="00409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矩形 85"/>
          <p:cNvSpPr>
            <a:spLocks noGrp="1"/>
          </p:cNvSpPr>
          <p:nvPr/>
        </p:nvSpPr>
        <p:spPr>
          <a:xfrm>
            <a:off x="7677150" y="2538730"/>
            <a:ext cx="2857500" cy="3378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pPr algn="l">
              <a:defRPr sz="1275" b="0">
                <a:solidFill>
                  <a:srgbClr val="5A6B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条测试用例</a:t>
            </a:r>
            <a:endParaRPr sz="16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矩形 86"/>
          <p:cNvSpPr>
            <a:spLocks noGrp="1"/>
          </p:cNvSpPr>
          <p:nvPr/>
        </p:nvSpPr>
        <p:spPr>
          <a:xfrm>
            <a:off x="7620000" y="3143250"/>
            <a:ext cx="28575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pPr algn="l">
              <a:defRPr sz="36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100%</a:t>
            </a:r>
            <a:endParaRPr sz="36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矩形 87"/>
          <p:cNvSpPr>
            <a:spLocks noGrp="1"/>
          </p:cNvSpPr>
          <p:nvPr/>
        </p:nvSpPr>
        <p:spPr>
          <a:xfrm>
            <a:off x="7677150" y="4032250"/>
            <a:ext cx="3048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pPr algn="l">
              <a:defRPr sz="1275" b="0">
                <a:solidFill>
                  <a:srgbClr val="5A6B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自动化，一键运行</a:t>
            </a:r>
            <a:endParaRPr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矩形 88"/>
          <p:cNvSpPr>
            <a:spLocks noGrp="1"/>
          </p:cNvSpPr>
          <p:nvPr/>
        </p:nvSpPr>
        <p:spPr>
          <a:xfrm>
            <a:off x="7677150" y="4577715"/>
            <a:ext cx="3619500" cy="6273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pPr algn="l">
              <a:defRPr sz="112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每条用例编号同时出现在清单、脚本 docstring 与报告，逐条可对照</a:t>
            </a:r>
            <a:endParaRPr sz="16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页眉校园配图" descr="crop_2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56267"/>
          </a:xfrm>
          <a:prstGeom prst="rect">
            <a:avLst/>
          </a:prstGeom>
        </p:spPr>
      </p:pic>
      <p:pic>
        <p:nvPicPr>
          <p:cNvPr id="3" name="校徽与校名标识" descr="crop_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4" y="36459"/>
            <a:ext cx="2224018" cy="568765"/>
          </a:xfrm>
          <a:prstGeom prst="rect">
            <a:avLst/>
          </a:prstGeom>
        </p:spPr>
      </p:pic>
      <p:sp>
        <p:nvSpPr>
          <p:cNvPr id="4" name="框架"/>
          <p:cNvSpPr/>
          <p:nvPr/>
        </p:nvSpPr>
        <p:spPr>
          <a:xfrm>
            <a:off x="2705282" y="0"/>
            <a:ext cx="1538583" cy="6416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框架"/>
          <p:cNvSpPr/>
          <p:nvPr/>
        </p:nvSpPr>
        <p:spPr>
          <a:xfrm>
            <a:off x="10325281" y="0"/>
            <a:ext cx="1691712" cy="6416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文字：WinCLIP：文本定义状态，窗口定位异常"/>
          <p:cNvSpPr txBox="1"/>
          <p:nvPr/>
        </p:nvSpPr>
        <p:spPr>
          <a:xfrm>
            <a:off x="328133" y="816688"/>
            <a:ext cx="3164840" cy="5911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560" b="1" i="0">
                <a:solidFill>
                  <a:srgbClr val="0056A6"/>
                </a:solidFill>
                <a:latin typeface="微软雅黑" panose="020B0503020204020204" charset="-122"/>
                <a:ea typeface="微软雅黑" panose="020B0503020204020204" charset="-122"/>
              </a:rPr>
              <a:t>自动化测试实现</a:t>
            </a:r>
            <a:endParaRPr sz="3560" b="1" i="0">
              <a:solidFill>
                <a:srgbClr val="005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字：明德  厚学  求是  创新"/>
          <p:cNvSpPr txBox="1"/>
          <p:nvPr/>
        </p:nvSpPr>
        <p:spPr>
          <a:xfrm>
            <a:off x="9822142" y="6453300"/>
            <a:ext cx="2078181" cy="3135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056A6"/>
                </a:solidFill>
                <a:latin typeface="华文行楷" panose="02010800040101010101" charset="-122"/>
                <a:ea typeface="华文行楷" panose="02010800040101010101" charset="-122"/>
              </a:rPr>
              <a:t>明德  厚学  求是  创新</a:t>
            </a:r>
            <a:endParaRPr sz="1700" b="1" i="0">
              <a:solidFill>
                <a:srgbClr val="0056A6"/>
              </a:solidFill>
              <a:latin typeface="华文行楷" panose="02010800040101010101" charset="-122"/>
              <a:ea typeface="华文行楷" panose="02010800040101010101" charset="-122"/>
            </a:endParaRPr>
          </a:p>
        </p:txBody>
      </p:sp>
      <p:sp>
        <p:nvSpPr>
          <p:cNvPr id="20" name="框架"/>
          <p:cNvSpPr/>
          <p:nvPr/>
        </p:nvSpPr>
        <p:spPr>
          <a:xfrm>
            <a:off x="269799" y="1735463"/>
            <a:ext cx="5075138" cy="2260478"/>
          </a:xfrm>
          <a:prstGeom prst="roundRect">
            <a:avLst>
              <a:gd name="adj" fmla="val 8000"/>
            </a:avLst>
          </a:prstGeom>
          <a:solidFill>
            <a:srgbClr val="E7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独立圆形"/>
          <p:cNvSpPr/>
          <p:nvPr/>
        </p:nvSpPr>
        <p:spPr>
          <a:xfrm>
            <a:off x="393760" y="1822966"/>
            <a:ext cx="408344" cy="408344"/>
          </a:xfrm>
          <a:prstGeom prst="ellipse">
            <a:avLst/>
          </a:prstGeom>
          <a:solidFill>
            <a:srgbClr val="00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文字：1"/>
          <p:cNvSpPr txBox="1"/>
          <p:nvPr/>
        </p:nvSpPr>
        <p:spPr>
          <a:xfrm>
            <a:off x="393760" y="1815674"/>
            <a:ext cx="408344" cy="4083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8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218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字：组合提示集：状态词 × 提示模板 → 平均文本嵌入"/>
          <p:cNvSpPr txBox="1"/>
          <p:nvPr/>
        </p:nvSpPr>
        <p:spPr>
          <a:xfrm>
            <a:off x="940650" y="1895885"/>
            <a:ext cx="772160" cy="2514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15" b="1" i="0">
                <a:solidFill>
                  <a:srgbClr val="0056A6"/>
                </a:solidFill>
                <a:latin typeface="微软雅黑" panose="020B0503020204020204" charset="-122"/>
                <a:ea typeface="微软雅黑" panose="020B0503020204020204" charset="-122"/>
              </a:rPr>
              <a:t>目录结构</a:t>
            </a:r>
            <a:endParaRPr sz="1515" b="1" i="0">
              <a:solidFill>
                <a:srgbClr val="005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4" name="连线"/>
          <p:cNvCxnSpPr/>
          <p:nvPr/>
        </p:nvCxnSpPr>
        <p:spPr>
          <a:xfrm>
            <a:off x="430220" y="2267770"/>
            <a:ext cx="4747004" cy="0"/>
          </a:xfrm>
          <a:prstGeom prst="line">
            <a:avLst/>
          </a:prstGeom>
          <a:ln w="7291">
            <a:solidFill>
              <a:srgbClr val="005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文字：使用状态词与提示模板的组合，计算每类的平均文本嵌入， / 作为正常与异常的文本原型。"/>
          <p:cNvSpPr txBox="1"/>
          <p:nvPr/>
        </p:nvSpPr>
        <p:spPr>
          <a:xfrm>
            <a:off x="444803" y="2362564"/>
            <a:ext cx="2405380" cy="2368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30" b="0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</a:rPr>
              <a:t>assignment/module1/tests/</a:t>
            </a:r>
            <a:endParaRPr sz="1430" b="0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框架"/>
          <p:cNvSpPr/>
          <p:nvPr/>
        </p:nvSpPr>
        <p:spPr>
          <a:xfrm>
            <a:off x="437515" y="2697480"/>
            <a:ext cx="1480185" cy="1137920"/>
          </a:xfrm>
          <a:prstGeom prst="roundRect">
            <a:avLst>
              <a:gd name="adj" fmla="val 8000"/>
            </a:avLst>
          </a:prstGeom>
          <a:solidFill>
            <a:srgbClr val="F9FDFF"/>
          </a:solidFill>
          <a:ln w="8890">
            <a:solidFill>
              <a:srgbClr val="78B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框架"/>
          <p:cNvSpPr/>
          <p:nvPr/>
        </p:nvSpPr>
        <p:spPr>
          <a:xfrm>
            <a:off x="2019935" y="2697480"/>
            <a:ext cx="1480185" cy="1137920"/>
          </a:xfrm>
          <a:prstGeom prst="roundRect">
            <a:avLst>
              <a:gd name="adj" fmla="val 8000"/>
            </a:avLst>
          </a:prstGeom>
          <a:solidFill>
            <a:srgbClr val="FFF9F8"/>
          </a:solidFill>
          <a:ln w="8890">
            <a:solidFill>
              <a:srgbClr val="F6A4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文字：“a photo of a / flawless object”"/>
          <p:cNvSpPr txBox="1"/>
          <p:nvPr/>
        </p:nvSpPr>
        <p:spPr>
          <a:xfrm>
            <a:off x="583565" y="2900045"/>
            <a:ext cx="1162050" cy="7169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35" b="1" i="1">
                <a:solidFill>
                  <a:schemeClr val="accent1"/>
                </a:solidFill>
                <a:latin typeface="Times New Roman" panose="02020603050405020304"/>
                <a:ea typeface="Times New Roman" panose="02020603050405020304"/>
              </a:rPr>
              <a:t>count/      </a:t>
            </a:r>
            <a:endParaRPr sz="1435" b="1" i="1">
              <a:solidFill>
                <a:schemeClr val="accent1"/>
              </a:solidFill>
              <a:latin typeface="Times New Roman" panose="02020603050405020304"/>
              <a:ea typeface="Times New Roman" panose="02020603050405020304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5" b="1" i="1">
                <a:solidFill>
                  <a:schemeClr val="accent1"/>
                </a:solidFill>
                <a:latin typeface="Times New Roman" panose="02020603050405020304"/>
                <a:ea typeface="Times New Roman" panose="02020603050405020304"/>
              </a:rPr>
              <a:t>管映涵</a:t>
            </a:r>
            <a:r>
              <a:rPr sz="1435" b="1" i="1">
                <a:solidFill>
                  <a:schemeClr val="accent1"/>
                </a:solidFill>
                <a:latin typeface="Times New Roman" panose="02020603050405020304"/>
                <a:ea typeface="Times New Roman" panose="02020603050405020304"/>
              </a:rPr>
              <a:t>：24 条，9 个脚本</a:t>
            </a:r>
            <a:endParaRPr sz="1435" b="1" i="1">
              <a:solidFill>
                <a:schemeClr val="accent1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29" name="文字：“a photo of a / damaged object”"/>
          <p:cNvSpPr txBox="1"/>
          <p:nvPr/>
        </p:nvSpPr>
        <p:spPr>
          <a:xfrm>
            <a:off x="2179955" y="2899410"/>
            <a:ext cx="1313180" cy="61722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35" b="1" i="1">
                <a:solidFill>
                  <a:schemeClr val="accent2"/>
                </a:solidFill>
                <a:latin typeface="Times New Roman" panose="02020603050405020304"/>
                <a:ea typeface="Times New Roman" panose="02020603050405020304"/>
              </a:rPr>
              <a:t>metrics/    </a:t>
            </a:r>
            <a:endParaRPr sz="1435" b="1" i="1">
              <a:solidFill>
                <a:schemeClr val="accent2"/>
              </a:solidFill>
              <a:latin typeface="Times New Roman" panose="02020603050405020304"/>
              <a:ea typeface="Times New Roman" panose="02020603050405020304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5" b="1" i="1">
                <a:solidFill>
                  <a:schemeClr val="accent2"/>
                </a:solidFill>
                <a:latin typeface="Times New Roman" panose="02020603050405020304"/>
                <a:ea typeface="Times New Roman" panose="02020603050405020304"/>
              </a:rPr>
              <a:t>韩迎小</a:t>
            </a:r>
            <a:r>
              <a:rPr sz="1435" b="1" i="1">
                <a:solidFill>
                  <a:schemeClr val="accent2"/>
                </a:solidFill>
                <a:latin typeface="Times New Roman" panose="02020603050405020304"/>
                <a:ea typeface="Times New Roman" panose="02020603050405020304"/>
              </a:rPr>
              <a:t>：20 条，</a:t>
            </a:r>
            <a:endParaRPr sz="1435" b="1" i="1">
              <a:solidFill>
                <a:schemeClr val="accent2"/>
              </a:solidFill>
              <a:latin typeface="Times New Roman" panose="02020603050405020304"/>
              <a:ea typeface="Times New Roman" panose="02020603050405020304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35" b="1" i="1">
                <a:solidFill>
                  <a:schemeClr val="accent2"/>
                </a:solidFill>
                <a:latin typeface="Times New Roman" panose="02020603050405020304"/>
                <a:ea typeface="Times New Roman" panose="02020603050405020304"/>
              </a:rPr>
              <a:t>17 个脚本</a:t>
            </a:r>
            <a:endParaRPr sz="1435" b="1" i="1">
              <a:solidFill>
                <a:schemeClr val="accent2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32" name="文字：}"/>
          <p:cNvSpPr txBox="1"/>
          <p:nvPr/>
        </p:nvSpPr>
        <p:spPr>
          <a:xfrm>
            <a:off x="3543846" y="2996956"/>
            <a:ext cx="262507" cy="8385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12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</a:rPr>
              <a:t>}</a:t>
            </a:r>
            <a:endParaRPr sz="4120" b="0" i="0">
              <a:solidFill>
                <a:srgbClr val="111111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33" name="框架"/>
          <p:cNvSpPr/>
          <p:nvPr/>
        </p:nvSpPr>
        <p:spPr>
          <a:xfrm>
            <a:off x="3816350" y="3054985"/>
            <a:ext cx="1383030" cy="758825"/>
          </a:xfrm>
          <a:prstGeom prst="roundRect">
            <a:avLst>
              <a:gd name="adj" fmla="val 8000"/>
            </a:avLst>
          </a:prstGeom>
          <a:solidFill>
            <a:srgbClr val="D2EAFD"/>
          </a:solidFill>
          <a:ln w="8890">
            <a:solidFill>
              <a:srgbClr val="78B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文字：正常与异常 / 文本原型"/>
          <p:cNvSpPr txBox="1"/>
          <p:nvPr/>
        </p:nvSpPr>
        <p:spPr>
          <a:xfrm>
            <a:off x="3893698" y="3171961"/>
            <a:ext cx="1226820" cy="5346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5" b="1" i="0">
                <a:solidFill>
                  <a:srgbClr val="0056A6"/>
                </a:solidFill>
                <a:latin typeface="微软雅黑" panose="020B0503020204020204" charset="-122"/>
                <a:ea typeface="微软雅黑" panose="020B0503020204020204" charset="-122"/>
              </a:rPr>
              <a:t>conftest.py </a:t>
            </a:r>
            <a:endParaRPr sz="1605" b="1" i="0">
              <a:solidFill>
                <a:srgbClr val="0056A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5" b="1" i="0">
                <a:solidFill>
                  <a:srgbClr val="0056A6"/>
                </a:solidFill>
                <a:latin typeface="微软雅黑" panose="020B0503020204020204" charset="-122"/>
                <a:ea typeface="微软雅黑" panose="020B0503020204020204" charset="-122"/>
              </a:rPr>
              <a:t>统一导入路径</a:t>
            </a:r>
            <a:endParaRPr sz="1605" b="1" i="0">
              <a:solidFill>
                <a:srgbClr val="005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框架"/>
          <p:cNvSpPr/>
          <p:nvPr/>
        </p:nvSpPr>
        <p:spPr>
          <a:xfrm>
            <a:off x="269875" y="4141470"/>
            <a:ext cx="5074920" cy="2019935"/>
          </a:xfrm>
          <a:prstGeom prst="roundRect">
            <a:avLst>
              <a:gd name="adj" fmla="val 8000"/>
            </a:avLst>
          </a:prstGeom>
          <a:solidFill>
            <a:srgbClr val="E7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独立圆形"/>
          <p:cNvSpPr/>
          <p:nvPr/>
        </p:nvSpPr>
        <p:spPr>
          <a:xfrm>
            <a:off x="393760" y="4221990"/>
            <a:ext cx="408344" cy="408344"/>
          </a:xfrm>
          <a:prstGeom prst="ellipse">
            <a:avLst/>
          </a:prstGeom>
          <a:solidFill>
            <a:srgbClr val="00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文字：2"/>
          <p:cNvSpPr txBox="1"/>
          <p:nvPr/>
        </p:nvSpPr>
        <p:spPr>
          <a:xfrm>
            <a:off x="393760" y="4214698"/>
            <a:ext cx="408344" cy="4083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8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218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文字：对齐局部窗口：全局图文对齐 ≠ patch级直接对齐"/>
          <p:cNvSpPr txBox="1"/>
          <p:nvPr/>
        </p:nvSpPr>
        <p:spPr>
          <a:xfrm>
            <a:off x="947942" y="4302200"/>
            <a:ext cx="762000" cy="2482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i="0">
                <a:solidFill>
                  <a:srgbClr val="0056A6"/>
                </a:solidFill>
                <a:latin typeface="微软雅黑" panose="020B0503020204020204" charset="-122"/>
                <a:ea typeface="微软雅黑" panose="020B0503020204020204" charset="-122"/>
              </a:rPr>
              <a:t>关键实现</a:t>
            </a:r>
            <a:endParaRPr lang="zh-CN" sz="1500" b="1" i="0">
              <a:solidFill>
                <a:srgbClr val="005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9" name="连线"/>
          <p:cNvCxnSpPr/>
          <p:nvPr/>
        </p:nvCxnSpPr>
        <p:spPr>
          <a:xfrm>
            <a:off x="430220" y="4666793"/>
            <a:ext cx="4747004" cy="0"/>
          </a:xfrm>
          <a:prstGeom prst="line">
            <a:avLst/>
          </a:prstGeom>
          <a:ln w="7291">
            <a:solidFill>
              <a:srgbClr val="005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独立圆形"/>
          <p:cNvSpPr/>
          <p:nvPr/>
        </p:nvSpPr>
        <p:spPr>
          <a:xfrm>
            <a:off x="488554" y="4819923"/>
            <a:ext cx="94794" cy="94794"/>
          </a:xfrm>
          <a:prstGeom prst="ellipse">
            <a:avLst/>
          </a:prstGeom>
          <a:solidFill>
            <a:srgbClr val="008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文字：CLIP 在图像级别有良好的图文对齐，但 patch 级特征 / 并未与语言空间对齐，直接比较效果较差。"/>
          <p:cNvSpPr txBox="1"/>
          <p:nvPr/>
        </p:nvSpPr>
        <p:spPr>
          <a:xfrm>
            <a:off x="707390" y="4761865"/>
            <a:ext cx="4469130" cy="4781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35" b="0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</a:rPr>
              <a:t>用例编号写进 docstring：pytest 输出与附录1 清单可直接对照</a:t>
            </a:r>
            <a:endParaRPr sz="1435" b="0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独立圆形"/>
          <p:cNvSpPr/>
          <p:nvPr/>
        </p:nvSpPr>
        <p:spPr>
          <a:xfrm>
            <a:off x="488554" y="5374104"/>
            <a:ext cx="94794" cy="94794"/>
          </a:xfrm>
          <a:prstGeom prst="ellipse">
            <a:avLst/>
          </a:prstGeom>
          <a:solidFill>
            <a:srgbClr val="008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文字：先在局部窗口上提取整体嵌入，再与文本原型比较， / 以获得像素级异常分割。"/>
          <p:cNvSpPr txBox="1"/>
          <p:nvPr/>
        </p:nvSpPr>
        <p:spPr>
          <a:xfrm>
            <a:off x="707390" y="5315585"/>
            <a:ext cx="4491355" cy="4781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35" b="0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</a:rPr>
              <a:t>缺陷复现用例不做 xfail：修复前显示失败，修复后自动转绿，形成回归证据</a:t>
            </a:r>
            <a:endParaRPr sz="1435" b="0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框架"/>
          <p:cNvSpPr/>
          <p:nvPr/>
        </p:nvSpPr>
        <p:spPr>
          <a:xfrm>
            <a:off x="5483768" y="1531185"/>
            <a:ext cx="6416841" cy="3470927"/>
          </a:xfrm>
          <a:prstGeom prst="roundRect">
            <a:avLst>
              <a:gd name="adj" fmla="val 8000"/>
            </a:avLst>
          </a:prstGeom>
          <a:solidFill>
            <a:srgbClr val="E7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独立圆形"/>
          <p:cNvSpPr/>
          <p:nvPr/>
        </p:nvSpPr>
        <p:spPr>
          <a:xfrm>
            <a:off x="5614736" y="1684420"/>
            <a:ext cx="401052" cy="401052"/>
          </a:xfrm>
          <a:prstGeom prst="ellipse">
            <a:avLst/>
          </a:prstGeom>
          <a:solidFill>
            <a:srgbClr val="00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文字：3"/>
          <p:cNvSpPr txBox="1"/>
          <p:nvPr/>
        </p:nvSpPr>
        <p:spPr>
          <a:xfrm>
            <a:off x="5614736" y="1677129"/>
            <a:ext cx="401052" cy="4010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4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214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字：多尺度视觉特征"/>
          <p:cNvSpPr txBox="1"/>
          <p:nvPr/>
        </p:nvSpPr>
        <p:spPr>
          <a:xfrm>
            <a:off x="6190793" y="1720880"/>
            <a:ext cx="990600" cy="32321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50" b="1" i="0">
                <a:solidFill>
                  <a:srgbClr val="0056A6"/>
                </a:solidFill>
                <a:latin typeface="微软雅黑" panose="020B0503020204020204" charset="-122"/>
                <a:ea typeface="微软雅黑" panose="020B0503020204020204" charset="-122"/>
              </a:rPr>
              <a:t>一</a:t>
            </a:r>
            <a:r>
              <a:rPr lang="zh-CN" sz="1950" b="1" i="0">
                <a:solidFill>
                  <a:srgbClr val="0056A6"/>
                </a:solidFill>
                <a:latin typeface="微软雅黑" panose="020B0503020204020204" charset="-122"/>
                <a:ea typeface="微软雅黑" panose="020B0503020204020204" charset="-122"/>
              </a:rPr>
              <a:t>键运行</a:t>
            </a:r>
            <a:endParaRPr lang="zh-CN" sz="1950" b="1" i="0">
              <a:solidFill>
                <a:srgbClr val="005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框架"/>
          <p:cNvSpPr/>
          <p:nvPr/>
        </p:nvSpPr>
        <p:spPr>
          <a:xfrm>
            <a:off x="5563650" y="2085145"/>
            <a:ext cx="6249128" cy="289487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框架"/>
          <p:cNvSpPr/>
          <p:nvPr/>
        </p:nvSpPr>
        <p:spPr>
          <a:xfrm>
            <a:off x="5505450" y="5118735"/>
            <a:ext cx="6416675" cy="1042670"/>
          </a:xfrm>
          <a:prstGeom prst="roundRect">
            <a:avLst>
              <a:gd name="adj" fmla="val 8000"/>
            </a:avLst>
          </a:prstGeom>
          <a:solidFill>
            <a:srgbClr val="E7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框架"/>
          <p:cNvSpPr/>
          <p:nvPr/>
        </p:nvSpPr>
        <p:spPr>
          <a:xfrm>
            <a:off x="10452281" y="127000"/>
            <a:ext cx="1691712" cy="6416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29" name="框架"/>
          <p:cNvSpPr/>
          <p:nvPr/>
        </p:nvSpPr>
        <p:spPr>
          <a:xfrm>
            <a:off x="5665652" y="36195"/>
            <a:ext cx="1538583" cy="685435"/>
          </a:xfrm>
          <a:prstGeom prst="rect">
            <a:avLst/>
          </a:prstGeom>
          <a:solidFill>
            <a:srgbClr val="00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30" name="文字：任务定义"/>
          <p:cNvSpPr txBox="1"/>
          <p:nvPr/>
        </p:nvSpPr>
        <p:spPr>
          <a:xfrm>
            <a:off x="2987465" y="-6563"/>
            <a:ext cx="1016000" cy="6642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被测对象</a:t>
            </a:r>
            <a:endParaRPr 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测试范围</a:t>
            </a:r>
            <a:endParaRPr 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1" name="框架"/>
          <p:cNvSpPr/>
          <p:nvPr/>
        </p:nvSpPr>
        <p:spPr>
          <a:xfrm>
            <a:off x="5600332" y="43180"/>
            <a:ext cx="1553167" cy="6416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32" name="文字：研究背景"/>
          <p:cNvSpPr txBox="1"/>
          <p:nvPr/>
        </p:nvSpPr>
        <p:spPr>
          <a:xfrm>
            <a:off x="4483282" y="145837"/>
            <a:ext cx="1016000" cy="3321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用例设计</a:t>
            </a:r>
            <a:endParaRPr 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3" name="框架"/>
          <p:cNvSpPr/>
          <p:nvPr/>
        </p:nvSpPr>
        <p:spPr>
          <a:xfrm>
            <a:off x="5651195" y="0"/>
            <a:ext cx="1516708" cy="68543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34" name="文字：问题挑战"/>
          <p:cNvSpPr txBox="1"/>
          <p:nvPr/>
        </p:nvSpPr>
        <p:spPr>
          <a:xfrm>
            <a:off x="5818300" y="145837"/>
            <a:ext cx="1270000" cy="3321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自动化实现</a:t>
            </a:r>
            <a:endParaRPr 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5" name="框架"/>
          <p:cNvSpPr/>
          <p:nvPr/>
        </p:nvSpPr>
        <p:spPr>
          <a:xfrm>
            <a:off x="7175195" y="0"/>
            <a:ext cx="1713588" cy="6416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36" name="文字：研究方法"/>
          <p:cNvSpPr txBox="1"/>
          <p:nvPr/>
        </p:nvSpPr>
        <p:spPr>
          <a:xfrm>
            <a:off x="7567740" y="145837"/>
            <a:ext cx="1016000" cy="3321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执行结果</a:t>
            </a:r>
            <a:endParaRPr 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7" name="框架"/>
          <p:cNvSpPr/>
          <p:nvPr/>
        </p:nvSpPr>
        <p:spPr>
          <a:xfrm>
            <a:off x="8815865" y="0"/>
            <a:ext cx="1531291" cy="6416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38" name="文字：实验结果"/>
          <p:cNvSpPr txBox="1"/>
          <p:nvPr/>
        </p:nvSpPr>
        <p:spPr>
          <a:xfrm>
            <a:off x="9117262" y="145837"/>
            <a:ext cx="1016000" cy="3321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缺陷分析</a:t>
            </a:r>
            <a:endParaRPr 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9" name="文字：总结展望"/>
          <p:cNvSpPr txBox="1"/>
          <p:nvPr/>
        </p:nvSpPr>
        <p:spPr>
          <a:xfrm>
            <a:off x="10579888" y="145837"/>
            <a:ext cx="1270000" cy="3321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成员贡献度</a:t>
            </a:r>
            <a:endParaRPr 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0" name="TextBox 63"/>
          <p:cNvSpPr txBox="1"/>
          <p:nvPr/>
        </p:nvSpPr>
        <p:spPr>
          <a:xfrm>
            <a:off x="594360" y="6461252"/>
            <a:ext cx="8641080" cy="1536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p>
            <a:pPr>
              <a:spcAft>
                <a:spcPts val="900"/>
              </a:spcAft>
              <a:defRPr sz="1000" b="0">
                <a:solidFill>
                  <a:srgbClr val="5D667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华中科技大学 · 软件测试与质量保证实践 · 模块一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1" name="独立圆形"/>
          <p:cNvSpPr/>
          <p:nvPr/>
        </p:nvSpPr>
        <p:spPr>
          <a:xfrm>
            <a:off x="488554" y="5950049"/>
            <a:ext cx="94794" cy="94794"/>
          </a:xfrm>
          <a:prstGeom prst="ellipse">
            <a:avLst/>
          </a:prstGeom>
          <a:solidFill>
            <a:srgbClr val="008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43" name="文字：先在局部窗口上提取整体嵌入，再与文本原型比较， / 以获得像素级异常分割。"/>
          <p:cNvSpPr txBox="1"/>
          <p:nvPr/>
        </p:nvSpPr>
        <p:spPr>
          <a:xfrm>
            <a:off x="708025" y="5855335"/>
            <a:ext cx="4491355" cy="23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35" b="0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</a:rPr>
              <a:t>断言值来自公式与源码语义，换环境重跑结果一致</a:t>
            </a:r>
            <a:endParaRPr sz="1435" b="0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44" name="图片 2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5990" y="2105025"/>
            <a:ext cx="5532120" cy="2820670"/>
          </a:xfrm>
          <a:prstGeom prst="rect">
            <a:avLst/>
          </a:prstGeom>
        </p:spPr>
      </p:pic>
      <p:sp>
        <p:nvSpPr>
          <p:cNvPr id="245" name="矩形 244"/>
          <p:cNvSpPr>
            <a:spLocks noGrp="1"/>
          </p:cNvSpPr>
          <p:nvPr/>
        </p:nvSpPr>
        <p:spPr>
          <a:xfrm>
            <a:off x="5906135" y="5086350"/>
            <a:ext cx="5703570" cy="95821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pPr algn="l">
              <a:lnSpc>
                <a:spcPct val="150000"/>
              </a:lnSpc>
              <a:defRPr sz="1200" b="0">
                <a:solidFill>
                  <a:srgbClr val="002E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002E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.venv\Scripts\python -m pytest -v</a:t>
            </a:r>
            <a:endParaRPr sz="1400" b="1">
              <a:solidFill>
                <a:srgbClr val="002E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defRPr sz="1200" b="0">
                <a:solidFill>
                  <a:srgbClr val="002E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>
                <a:solidFill>
                  <a:srgbClr val="1F2937"/>
                </a:solidFill>
                <a:sym typeface="+mn-ea"/>
              </a:rPr>
              <a:t>pytest.ini 限定只收集 assignment/ 下的用例，不会混入上游测试</a:t>
            </a:r>
            <a:endParaRPr sz="14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defRPr sz="1200" b="0">
                <a:solidFill>
                  <a:srgbClr val="002E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>
                <a:solidFill>
                  <a:srgbClr val="1F2937"/>
                </a:solidFill>
                <a:sym typeface="+mn-ea"/>
              </a:rPr>
              <a:t>也可只跑某一侧：tests/count 或 tests/metrics</a:t>
            </a:r>
            <a:endParaRPr sz="1400" b="1">
              <a:solidFill>
                <a:srgbClr val="002E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页眉校园配图" descr="crop_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56267"/>
          </a:xfrm>
          <a:prstGeom prst="rect">
            <a:avLst/>
          </a:prstGeom>
        </p:spPr>
      </p:pic>
      <p:pic>
        <p:nvPicPr>
          <p:cNvPr id="3" name="校徽与校名标识" descr="crop_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004" y="36459"/>
            <a:ext cx="2224018" cy="568765"/>
          </a:xfrm>
          <a:prstGeom prst="rect">
            <a:avLst/>
          </a:prstGeom>
        </p:spPr>
      </p:pic>
      <p:sp>
        <p:nvSpPr>
          <p:cNvPr id="16" name="文字：PatchCore：把正常局部模式存入记忆库"/>
          <p:cNvSpPr txBox="1"/>
          <p:nvPr/>
        </p:nvSpPr>
        <p:spPr>
          <a:xfrm>
            <a:off x="328133" y="816688"/>
            <a:ext cx="4069080" cy="5911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560" b="1" i="0">
                <a:solidFill>
                  <a:srgbClr val="0056A6"/>
                </a:solidFill>
                <a:latin typeface="微软雅黑" panose="020B0503020204020204" charset="-122"/>
                <a:ea typeface="微软雅黑" panose="020B0503020204020204" charset="-122"/>
              </a:rPr>
              <a:t>执行结果与关键数字</a:t>
            </a:r>
            <a:endParaRPr sz="3560" b="1" i="0">
              <a:solidFill>
                <a:srgbClr val="005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字：明德  厚学  求是  创新"/>
          <p:cNvSpPr txBox="1"/>
          <p:nvPr/>
        </p:nvSpPr>
        <p:spPr>
          <a:xfrm>
            <a:off x="9822142" y="6453300"/>
            <a:ext cx="2078181" cy="3135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056A6"/>
                </a:solidFill>
                <a:latin typeface="华文行楷" panose="02010800040101010101" charset="-122"/>
                <a:ea typeface="华文行楷" panose="02010800040101010101" charset="-122"/>
              </a:rPr>
              <a:t>明德  厚学  求是  创新</a:t>
            </a:r>
            <a:endParaRPr sz="1700" b="1" i="0">
              <a:solidFill>
                <a:srgbClr val="0056A6"/>
              </a:solidFill>
              <a:latin typeface="华文行楷" panose="02010800040101010101" charset="-122"/>
              <a:ea typeface="华文行楷" panose="02010800040101010101" charset="-122"/>
            </a:endParaRPr>
          </a:p>
        </p:txBody>
      </p:sp>
      <p:sp>
        <p:nvSpPr>
          <p:cNvPr id="20" name="框架"/>
          <p:cNvSpPr/>
          <p:nvPr/>
        </p:nvSpPr>
        <p:spPr>
          <a:xfrm>
            <a:off x="328295" y="1715135"/>
            <a:ext cx="5045710" cy="2726055"/>
          </a:xfrm>
          <a:prstGeom prst="rect">
            <a:avLst/>
          </a:prstGeom>
          <a:noFill/>
          <a:ln w="8890">
            <a:solidFill>
              <a:srgbClr val="0070D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框架"/>
          <p:cNvSpPr/>
          <p:nvPr/>
        </p:nvSpPr>
        <p:spPr>
          <a:xfrm>
            <a:off x="7313930" y="1714500"/>
            <a:ext cx="4564380" cy="2726690"/>
          </a:xfrm>
          <a:prstGeom prst="rect">
            <a:avLst/>
          </a:prstGeom>
          <a:noFill/>
          <a:ln w="8890">
            <a:solidFill>
              <a:srgbClr val="568D2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文字："/>
          <p:cNvSpPr txBox="1"/>
          <p:nvPr/>
        </p:nvSpPr>
        <p:spPr>
          <a:xfrm>
            <a:off x="3740726" y="3564117"/>
            <a:ext cx="1370870" cy="9114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8" name="框架"/>
          <p:cNvSpPr/>
          <p:nvPr/>
        </p:nvSpPr>
        <p:spPr>
          <a:xfrm>
            <a:off x="5556250" y="2348230"/>
            <a:ext cx="1662430" cy="1814195"/>
          </a:xfrm>
          <a:prstGeom prst="roundRect">
            <a:avLst>
              <a:gd name="adj" fmla="val 8000"/>
            </a:avLst>
          </a:prstGeom>
          <a:solidFill>
            <a:srgbClr val="ECECEC"/>
          </a:solidFill>
          <a:ln w="889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框架"/>
          <p:cNvSpPr/>
          <p:nvPr/>
        </p:nvSpPr>
        <p:spPr>
          <a:xfrm>
            <a:off x="5818908" y="2530277"/>
            <a:ext cx="1115655" cy="70731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文字："/>
          <p:cNvSpPr txBox="1"/>
          <p:nvPr/>
        </p:nvSpPr>
        <p:spPr>
          <a:xfrm>
            <a:off x="5848350" y="2555240"/>
            <a:ext cx="1057275" cy="9429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latin typeface="微软雅黑" panose="020B0503020204020204" charset="-122"/>
                <a:ea typeface="微软雅黑" panose="020B0503020204020204" charset="-122"/>
              </a:rPr>
              <a:t>自动化</a:t>
            </a:r>
            <a:endParaRPr b="1"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latin typeface="微软雅黑" panose="020B0503020204020204" charset="-122"/>
                <a:ea typeface="微软雅黑" panose="020B0503020204020204" charset="-122"/>
              </a:rPr>
              <a:t>测试执行</a:t>
            </a:r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" name="框架"/>
          <p:cNvSpPr/>
          <p:nvPr/>
        </p:nvSpPr>
        <p:spPr>
          <a:xfrm>
            <a:off x="5819140" y="3361690"/>
            <a:ext cx="1115695" cy="6172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结果汇总分类</a:t>
            </a:r>
            <a:endParaRPr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06" name="箭头"/>
          <p:cNvCxnSpPr/>
          <p:nvPr/>
        </p:nvCxnSpPr>
        <p:spPr>
          <a:xfrm>
            <a:off x="6394965" y="3237588"/>
            <a:ext cx="0" cy="109378"/>
          </a:xfrm>
          <a:prstGeom prst="line">
            <a:avLst/>
          </a:prstGeom>
          <a:ln w="21875">
            <a:solidFill>
              <a:srgbClr val="54872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框架"/>
          <p:cNvSpPr/>
          <p:nvPr/>
        </p:nvSpPr>
        <p:spPr>
          <a:xfrm>
            <a:off x="320675" y="4601210"/>
            <a:ext cx="3703955" cy="1267460"/>
          </a:xfrm>
          <a:prstGeom prst="roundRect">
            <a:avLst>
              <a:gd name="adj" fmla="val 8000"/>
            </a:avLst>
          </a:prstGeom>
          <a:solidFill>
            <a:srgbClr val="E7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独立圆形"/>
          <p:cNvSpPr/>
          <p:nvPr/>
        </p:nvSpPr>
        <p:spPr>
          <a:xfrm>
            <a:off x="539598" y="4710545"/>
            <a:ext cx="437511" cy="437511"/>
          </a:xfrm>
          <a:prstGeom prst="ellipse">
            <a:avLst/>
          </a:prstGeom>
          <a:solidFill>
            <a:srgbClr val="00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文字：1"/>
          <p:cNvSpPr txBox="1"/>
          <p:nvPr/>
        </p:nvSpPr>
        <p:spPr>
          <a:xfrm>
            <a:off x="539598" y="4703253"/>
            <a:ext cx="437511" cy="43751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252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5" name="文字：提取局部特征"/>
          <p:cNvSpPr txBox="1"/>
          <p:nvPr/>
        </p:nvSpPr>
        <p:spPr>
          <a:xfrm>
            <a:off x="1122947" y="4739712"/>
            <a:ext cx="895985" cy="398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0">
                <a:solidFill>
                  <a:srgbClr val="0056A6"/>
                </a:solidFill>
                <a:latin typeface="微软雅黑" panose="020B0503020204020204" charset="-122"/>
                <a:ea typeface="微软雅黑" panose="020B0503020204020204" charset="-122"/>
              </a:rPr>
              <a:t>24/24</a:t>
            </a:r>
            <a:endParaRPr lang="en-US" sz="2400" b="1" i="0">
              <a:solidFill>
                <a:srgbClr val="005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56" name="连线"/>
          <p:cNvCxnSpPr/>
          <p:nvPr/>
        </p:nvCxnSpPr>
        <p:spPr>
          <a:xfrm>
            <a:off x="539598" y="5199100"/>
            <a:ext cx="3252172" cy="0"/>
          </a:xfrm>
          <a:prstGeom prst="line">
            <a:avLst/>
          </a:prstGeom>
          <a:ln w="7291">
            <a:solidFill>
              <a:srgbClr val="005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文字：冻结预训练CNN， / 融合中间层与邻域信息"/>
          <p:cNvSpPr txBox="1"/>
          <p:nvPr/>
        </p:nvSpPr>
        <p:spPr>
          <a:xfrm>
            <a:off x="605224" y="5359521"/>
            <a:ext cx="2938780" cy="29527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80" b="0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</a:rPr>
              <a:t>计数与预处理修复后全部通过</a:t>
            </a:r>
            <a:endParaRPr sz="1780" b="0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8" name="框架"/>
          <p:cNvSpPr/>
          <p:nvPr/>
        </p:nvSpPr>
        <p:spPr>
          <a:xfrm>
            <a:off x="4243705" y="4601210"/>
            <a:ext cx="3703955" cy="1266825"/>
          </a:xfrm>
          <a:prstGeom prst="roundRect">
            <a:avLst>
              <a:gd name="adj" fmla="val 8000"/>
            </a:avLst>
          </a:prstGeom>
          <a:solidFill>
            <a:srgbClr val="E7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独立圆形"/>
          <p:cNvSpPr/>
          <p:nvPr/>
        </p:nvSpPr>
        <p:spPr>
          <a:xfrm>
            <a:off x="4462621" y="4710545"/>
            <a:ext cx="437511" cy="437511"/>
          </a:xfrm>
          <a:prstGeom prst="ellipse">
            <a:avLst/>
          </a:prstGeom>
          <a:solidFill>
            <a:srgbClr val="00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文字：2"/>
          <p:cNvSpPr txBox="1"/>
          <p:nvPr/>
        </p:nvSpPr>
        <p:spPr>
          <a:xfrm>
            <a:off x="4462621" y="4703253"/>
            <a:ext cx="437511" cy="43751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252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1" name="文字：建立正常记忆"/>
          <p:cNvSpPr txBox="1"/>
          <p:nvPr/>
        </p:nvSpPr>
        <p:spPr>
          <a:xfrm>
            <a:off x="5045970" y="4739712"/>
            <a:ext cx="1050290" cy="398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56A6"/>
                </a:solidFill>
                <a:latin typeface="微软雅黑" panose="020B0503020204020204" charset="-122"/>
                <a:ea typeface="微软雅黑" panose="020B0503020204020204" charset="-122"/>
              </a:rPr>
              <a:t>77 </a:t>
            </a:r>
            <a:r>
              <a:rPr sz="2400" b="1" i="0">
                <a:solidFill>
                  <a:srgbClr val="0056A6"/>
                </a:solidFill>
                <a:latin typeface="微软雅黑" panose="020B0503020204020204" charset="-122"/>
                <a:ea typeface="微软雅黑" panose="020B0503020204020204" charset="-122"/>
              </a:rPr>
              <a:t>→ 2</a:t>
            </a:r>
            <a:endParaRPr sz="2400" b="1" i="0">
              <a:solidFill>
                <a:srgbClr val="005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62" name="连线"/>
          <p:cNvCxnSpPr/>
          <p:nvPr/>
        </p:nvCxnSpPr>
        <p:spPr>
          <a:xfrm>
            <a:off x="4462621" y="5199100"/>
            <a:ext cx="3252172" cy="0"/>
          </a:xfrm>
          <a:prstGeom prst="line">
            <a:avLst/>
          </a:prstGeom>
          <a:ln w="7291">
            <a:solidFill>
              <a:srgbClr val="005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文字：汇集正常patch特征， / Coreset保留代表样本"/>
          <p:cNvSpPr txBox="1"/>
          <p:nvPr/>
        </p:nvSpPr>
        <p:spPr>
          <a:xfrm>
            <a:off x="4528248" y="5359521"/>
            <a:ext cx="2566035" cy="29527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80" b="0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</a:rPr>
              <a:t>上游 448 条测试的失败数</a:t>
            </a:r>
            <a:endParaRPr sz="1780" b="0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4" name="框架"/>
          <p:cNvSpPr/>
          <p:nvPr/>
        </p:nvSpPr>
        <p:spPr>
          <a:xfrm>
            <a:off x="8174355" y="4601210"/>
            <a:ext cx="3703955" cy="1266190"/>
          </a:xfrm>
          <a:prstGeom prst="roundRect">
            <a:avLst>
              <a:gd name="adj" fmla="val 8000"/>
            </a:avLst>
          </a:prstGeom>
          <a:solidFill>
            <a:srgbClr val="E7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独立圆形"/>
          <p:cNvSpPr/>
          <p:nvPr/>
        </p:nvSpPr>
        <p:spPr>
          <a:xfrm>
            <a:off x="8392937" y="4710545"/>
            <a:ext cx="437511" cy="437511"/>
          </a:xfrm>
          <a:prstGeom prst="ellipse">
            <a:avLst/>
          </a:prstGeom>
          <a:solidFill>
            <a:srgbClr val="00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文字：3"/>
          <p:cNvSpPr txBox="1"/>
          <p:nvPr/>
        </p:nvSpPr>
        <p:spPr>
          <a:xfrm>
            <a:off x="8392937" y="4703253"/>
            <a:ext cx="437511" cy="43751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252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7" name="文字：查询最近邻"/>
          <p:cNvSpPr txBox="1"/>
          <p:nvPr/>
        </p:nvSpPr>
        <p:spPr>
          <a:xfrm>
            <a:off x="8976286" y="4739712"/>
            <a:ext cx="2268855" cy="398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56A6"/>
                </a:solidFill>
                <a:latin typeface="微软雅黑" panose="020B0503020204020204" charset="-122"/>
                <a:ea typeface="微软雅黑" panose="020B0503020204020204" charset="-122"/>
              </a:rPr>
              <a:t>70.8% → 100%</a:t>
            </a:r>
            <a:endParaRPr sz="2400" b="1" i="0">
              <a:solidFill>
                <a:srgbClr val="005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68" name="连线"/>
          <p:cNvCxnSpPr/>
          <p:nvPr/>
        </p:nvCxnSpPr>
        <p:spPr>
          <a:xfrm>
            <a:off x="8392937" y="5199100"/>
            <a:ext cx="3252172" cy="0"/>
          </a:xfrm>
          <a:prstGeom prst="line">
            <a:avLst/>
          </a:prstGeom>
          <a:ln w="7291">
            <a:solidFill>
              <a:srgbClr val="005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文字：与正常记忆差异越大， / 异常分数越高"/>
          <p:cNvSpPr txBox="1"/>
          <p:nvPr/>
        </p:nvSpPr>
        <p:spPr>
          <a:xfrm>
            <a:off x="8458563" y="5359521"/>
            <a:ext cx="2938780" cy="29527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80" b="0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</a:rPr>
              <a:t>计数用例首轮到回归的通过率</a:t>
            </a:r>
            <a:endParaRPr sz="1780" b="0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0" name="文字：核心直觉：异常区域，找不到足够相似的正常局部模式。"/>
          <p:cNvSpPr txBox="1"/>
          <p:nvPr/>
        </p:nvSpPr>
        <p:spPr>
          <a:xfrm>
            <a:off x="441248" y="6045442"/>
            <a:ext cx="11278870" cy="3149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95" b="1" i="0">
                <a:solidFill>
                  <a:srgbClr val="0056A6"/>
                </a:solidFill>
                <a:latin typeface="微软雅黑" panose="020B0503020204020204" charset="-122"/>
                <a:ea typeface="微软雅黑" panose="020B0503020204020204" charset="-122"/>
              </a:rPr>
              <a:t>可读性指标：14 OK / 2 POK / 3 NG / 1 NT；剩余 2 条上游失败为 es_ES 词典版本差异，与本模块无关</a:t>
            </a:r>
            <a:endParaRPr sz="1895" b="1" i="0">
              <a:solidFill>
                <a:srgbClr val="005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1" name="框架"/>
          <p:cNvSpPr/>
          <p:nvPr/>
        </p:nvSpPr>
        <p:spPr>
          <a:xfrm>
            <a:off x="2705282" y="0"/>
            <a:ext cx="1538583" cy="6416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72" name="框架"/>
          <p:cNvSpPr/>
          <p:nvPr/>
        </p:nvSpPr>
        <p:spPr>
          <a:xfrm>
            <a:off x="10325281" y="0"/>
            <a:ext cx="1691712" cy="6416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29" name="框架"/>
          <p:cNvSpPr/>
          <p:nvPr/>
        </p:nvSpPr>
        <p:spPr>
          <a:xfrm>
            <a:off x="7218680" y="-6350"/>
            <a:ext cx="1591945" cy="685165"/>
          </a:xfrm>
          <a:prstGeom prst="rect">
            <a:avLst/>
          </a:prstGeom>
          <a:solidFill>
            <a:srgbClr val="00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30" name="文字：任务定义"/>
          <p:cNvSpPr txBox="1"/>
          <p:nvPr/>
        </p:nvSpPr>
        <p:spPr>
          <a:xfrm>
            <a:off x="2987465" y="-6563"/>
            <a:ext cx="1016000" cy="6642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被测对象</a:t>
            </a:r>
            <a:endParaRPr 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测试范围</a:t>
            </a:r>
            <a:endParaRPr 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1" name="框架"/>
          <p:cNvSpPr/>
          <p:nvPr/>
        </p:nvSpPr>
        <p:spPr>
          <a:xfrm>
            <a:off x="5600332" y="43180"/>
            <a:ext cx="1553167" cy="6416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32" name="文字：研究背景"/>
          <p:cNvSpPr txBox="1"/>
          <p:nvPr/>
        </p:nvSpPr>
        <p:spPr>
          <a:xfrm>
            <a:off x="4483282" y="145837"/>
            <a:ext cx="1016000" cy="3321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用例设计</a:t>
            </a:r>
            <a:endParaRPr 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3" name="框架"/>
          <p:cNvSpPr/>
          <p:nvPr/>
        </p:nvSpPr>
        <p:spPr>
          <a:xfrm>
            <a:off x="5651195" y="0"/>
            <a:ext cx="1516708" cy="68543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34" name="文字：问题挑战"/>
          <p:cNvSpPr txBox="1"/>
          <p:nvPr/>
        </p:nvSpPr>
        <p:spPr>
          <a:xfrm>
            <a:off x="5818300" y="145837"/>
            <a:ext cx="1270000" cy="3321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自动化实现</a:t>
            </a:r>
            <a:endParaRPr 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5" name="框架"/>
          <p:cNvSpPr/>
          <p:nvPr/>
        </p:nvSpPr>
        <p:spPr>
          <a:xfrm>
            <a:off x="7175195" y="0"/>
            <a:ext cx="1713588" cy="6416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36" name="文字：研究方法"/>
          <p:cNvSpPr txBox="1"/>
          <p:nvPr/>
        </p:nvSpPr>
        <p:spPr>
          <a:xfrm>
            <a:off x="7567740" y="145837"/>
            <a:ext cx="1016000" cy="3321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执行结果</a:t>
            </a:r>
            <a:endParaRPr 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7" name="框架"/>
          <p:cNvSpPr/>
          <p:nvPr/>
        </p:nvSpPr>
        <p:spPr>
          <a:xfrm>
            <a:off x="8815865" y="0"/>
            <a:ext cx="1531291" cy="6416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38" name="文字：实验结果"/>
          <p:cNvSpPr txBox="1"/>
          <p:nvPr/>
        </p:nvSpPr>
        <p:spPr>
          <a:xfrm>
            <a:off x="9117262" y="145837"/>
            <a:ext cx="1016000" cy="3321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缺陷分析</a:t>
            </a:r>
            <a:endParaRPr 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9" name="文字：总结展望"/>
          <p:cNvSpPr txBox="1"/>
          <p:nvPr/>
        </p:nvSpPr>
        <p:spPr>
          <a:xfrm>
            <a:off x="10579888" y="145837"/>
            <a:ext cx="1270000" cy="3321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成员贡献度</a:t>
            </a:r>
            <a:endParaRPr 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0" name="TextBox 63"/>
          <p:cNvSpPr txBox="1"/>
          <p:nvPr/>
        </p:nvSpPr>
        <p:spPr>
          <a:xfrm>
            <a:off x="594360" y="6461252"/>
            <a:ext cx="8641080" cy="1536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p>
            <a:pPr>
              <a:spcAft>
                <a:spcPts val="900"/>
              </a:spcAft>
              <a:defRPr sz="1000" b="0">
                <a:solidFill>
                  <a:srgbClr val="5D667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华中科技大学 · 软件测试与质量保证实践 · 模块一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73" name="Chart"/>
          <p:cNvGraphicFramePr/>
          <p:nvPr/>
        </p:nvGraphicFramePr>
        <p:xfrm>
          <a:off x="539750" y="1714500"/>
          <a:ext cx="4687570" cy="26777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74" name="Chart"/>
          <p:cNvGraphicFramePr/>
          <p:nvPr/>
        </p:nvGraphicFramePr>
        <p:xfrm>
          <a:off x="7444740" y="1879600"/>
          <a:ext cx="4265930" cy="23310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页眉校园配图" descr="crop_3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56267"/>
          </a:xfrm>
          <a:prstGeom prst="rect">
            <a:avLst/>
          </a:prstGeom>
        </p:spPr>
      </p:pic>
      <p:pic>
        <p:nvPicPr>
          <p:cNvPr id="3" name="校徽与校名标识" descr="crop_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4" y="36459"/>
            <a:ext cx="2224018" cy="568765"/>
          </a:xfrm>
          <a:prstGeom prst="rect">
            <a:avLst/>
          </a:prstGeom>
        </p:spPr>
      </p:pic>
      <p:sp>
        <p:nvSpPr>
          <p:cNvPr id="4" name="框架"/>
          <p:cNvSpPr/>
          <p:nvPr/>
        </p:nvSpPr>
        <p:spPr>
          <a:xfrm>
            <a:off x="2705282" y="0"/>
            <a:ext cx="1538583" cy="6416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框架"/>
          <p:cNvSpPr/>
          <p:nvPr/>
        </p:nvSpPr>
        <p:spPr>
          <a:xfrm>
            <a:off x="10325281" y="0"/>
            <a:ext cx="1691712" cy="6416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文字：WinCLIP+：让正常参考图补充语言判断"/>
          <p:cNvSpPr txBox="1"/>
          <p:nvPr/>
        </p:nvSpPr>
        <p:spPr>
          <a:xfrm>
            <a:off x="328133" y="816688"/>
            <a:ext cx="5877560" cy="5911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560" b="1" i="0">
                <a:solidFill>
                  <a:srgbClr val="0056A6"/>
                </a:solidFill>
                <a:latin typeface="微软雅黑" panose="020B0503020204020204" charset="-122"/>
                <a:ea typeface="微软雅黑" panose="020B0503020204020204" charset="-122"/>
              </a:rPr>
              <a:t>测</a:t>
            </a:r>
            <a:r>
              <a:rPr sz="3560" b="1" i="0">
                <a:solidFill>
                  <a:srgbClr val="0056A6"/>
                </a:solidFill>
                <a:latin typeface="微软雅黑" panose="020B0503020204020204" charset="-122"/>
                <a:ea typeface="微软雅黑" panose="020B0503020204020204" charset="-122"/>
              </a:rPr>
              <a:t>试亮点：这套测试好在哪里</a:t>
            </a:r>
            <a:endParaRPr sz="3560" b="1" i="0">
              <a:solidFill>
                <a:srgbClr val="005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字：明德  厚学  求是  创新"/>
          <p:cNvSpPr txBox="1"/>
          <p:nvPr/>
        </p:nvSpPr>
        <p:spPr>
          <a:xfrm>
            <a:off x="9822142" y="6453300"/>
            <a:ext cx="2078181" cy="3135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056A6"/>
                </a:solidFill>
                <a:latin typeface="华文行楷" panose="02010800040101010101" charset="-122"/>
                <a:ea typeface="华文行楷" panose="02010800040101010101" charset="-122"/>
              </a:rPr>
              <a:t>明德  厚学  求是  创新</a:t>
            </a:r>
            <a:endParaRPr sz="1700" b="1" i="0">
              <a:solidFill>
                <a:srgbClr val="0056A6"/>
              </a:solidFill>
              <a:latin typeface="华文行楷" panose="02010800040101010101" charset="-122"/>
              <a:ea typeface="华文行楷" panose="02010800040101010101" charset="-122"/>
            </a:endParaRPr>
          </a:p>
        </p:txBody>
      </p:sp>
      <p:sp>
        <p:nvSpPr>
          <p:cNvPr id="34" name="文字：3"/>
          <p:cNvSpPr txBox="1"/>
          <p:nvPr/>
        </p:nvSpPr>
        <p:spPr>
          <a:xfrm>
            <a:off x="7175438" y="3762450"/>
            <a:ext cx="437511" cy="43751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252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7" name="方向箭头"/>
          <p:cNvSpPr/>
          <p:nvPr/>
        </p:nvSpPr>
        <p:spPr>
          <a:xfrm>
            <a:off x="5862799" y="3182592"/>
            <a:ext cx="488554" cy="298966"/>
          </a:xfrm>
          <a:prstGeom prst="rightArrow">
            <a:avLst/>
          </a:prstGeom>
          <a:solidFill>
            <a:srgbClr val="4B9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框架"/>
          <p:cNvSpPr/>
          <p:nvPr/>
        </p:nvSpPr>
        <p:spPr>
          <a:xfrm>
            <a:off x="262255" y="5995670"/>
            <a:ext cx="11689080" cy="421005"/>
          </a:xfrm>
          <a:prstGeom prst="roundRect">
            <a:avLst>
              <a:gd name="adj" fmla="val 8000"/>
            </a:avLst>
          </a:prstGeom>
          <a:solidFill>
            <a:srgbClr val="E7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文字：相似的思路：正常特征检索；新增的能力：图文语义与多尺度参考融合。"/>
          <p:cNvSpPr txBox="1"/>
          <p:nvPr/>
        </p:nvSpPr>
        <p:spPr>
          <a:xfrm>
            <a:off x="1153698" y="6074123"/>
            <a:ext cx="10015855" cy="29527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80" b="1" i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三条最硬的证据：44 条 100% 自动化 → 1 行修复使上游失败 77 → 2 → 计数模块 24/24 回归通过</a:t>
            </a:r>
            <a:endParaRPr sz="1780" b="1" i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8" name="框架"/>
          <p:cNvSpPr/>
          <p:nvPr/>
        </p:nvSpPr>
        <p:spPr>
          <a:xfrm>
            <a:off x="10452281" y="127000"/>
            <a:ext cx="1691712" cy="6416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82" name="框架"/>
          <p:cNvSpPr/>
          <p:nvPr/>
        </p:nvSpPr>
        <p:spPr>
          <a:xfrm>
            <a:off x="7218680" y="-6350"/>
            <a:ext cx="1591945" cy="685165"/>
          </a:xfrm>
          <a:prstGeom prst="rect">
            <a:avLst/>
          </a:prstGeom>
          <a:solidFill>
            <a:srgbClr val="00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94" name="文字：任务定义"/>
          <p:cNvSpPr txBox="1"/>
          <p:nvPr/>
        </p:nvSpPr>
        <p:spPr>
          <a:xfrm>
            <a:off x="2987465" y="-6563"/>
            <a:ext cx="1016000" cy="6642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被测对象</a:t>
            </a:r>
            <a:endParaRPr 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测试范围</a:t>
            </a:r>
            <a:endParaRPr 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5" name="框架"/>
          <p:cNvSpPr/>
          <p:nvPr/>
        </p:nvSpPr>
        <p:spPr>
          <a:xfrm>
            <a:off x="5600332" y="43180"/>
            <a:ext cx="1553167" cy="6416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96" name="文字：研究背景"/>
          <p:cNvSpPr txBox="1"/>
          <p:nvPr/>
        </p:nvSpPr>
        <p:spPr>
          <a:xfrm>
            <a:off x="4483282" y="145837"/>
            <a:ext cx="1016000" cy="3321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用例设计</a:t>
            </a:r>
            <a:endParaRPr 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7" name="框架"/>
          <p:cNvSpPr/>
          <p:nvPr/>
        </p:nvSpPr>
        <p:spPr>
          <a:xfrm>
            <a:off x="5651195" y="0"/>
            <a:ext cx="1516708" cy="68543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98" name="文字：问题挑战"/>
          <p:cNvSpPr txBox="1"/>
          <p:nvPr/>
        </p:nvSpPr>
        <p:spPr>
          <a:xfrm>
            <a:off x="5818300" y="145837"/>
            <a:ext cx="1270000" cy="3321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自动化实现</a:t>
            </a:r>
            <a:endParaRPr 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9" name="框架"/>
          <p:cNvSpPr/>
          <p:nvPr/>
        </p:nvSpPr>
        <p:spPr>
          <a:xfrm>
            <a:off x="7175195" y="0"/>
            <a:ext cx="1713588" cy="6416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00" name="文字：研究方法"/>
          <p:cNvSpPr txBox="1"/>
          <p:nvPr/>
        </p:nvSpPr>
        <p:spPr>
          <a:xfrm>
            <a:off x="7567740" y="145837"/>
            <a:ext cx="1016000" cy="3321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执行结果</a:t>
            </a:r>
            <a:endParaRPr 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1" name="框架"/>
          <p:cNvSpPr/>
          <p:nvPr/>
        </p:nvSpPr>
        <p:spPr>
          <a:xfrm>
            <a:off x="8815865" y="0"/>
            <a:ext cx="1531291" cy="6416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02" name="文字：实验结果"/>
          <p:cNvSpPr txBox="1"/>
          <p:nvPr/>
        </p:nvSpPr>
        <p:spPr>
          <a:xfrm>
            <a:off x="9117262" y="145837"/>
            <a:ext cx="1016000" cy="3321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缺陷分析</a:t>
            </a:r>
            <a:endParaRPr 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3" name="文字：总结展望"/>
          <p:cNvSpPr txBox="1"/>
          <p:nvPr/>
        </p:nvSpPr>
        <p:spPr>
          <a:xfrm>
            <a:off x="10579888" y="145837"/>
            <a:ext cx="1270000" cy="3321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成员贡献度</a:t>
            </a:r>
            <a:endParaRPr 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4" name="框架"/>
          <p:cNvSpPr/>
          <p:nvPr/>
        </p:nvSpPr>
        <p:spPr>
          <a:xfrm>
            <a:off x="262072" y="1582143"/>
            <a:ext cx="5468899" cy="4258449"/>
          </a:xfrm>
          <a:prstGeom prst="rect">
            <a:avLst/>
          </a:prstGeom>
          <a:noFill/>
          <a:ln w="8890">
            <a:solidFill>
              <a:srgbClr val="378ED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05" name="TextBox 63"/>
          <p:cNvSpPr txBox="1"/>
          <p:nvPr/>
        </p:nvSpPr>
        <p:spPr>
          <a:xfrm>
            <a:off x="594360" y="6461252"/>
            <a:ext cx="8641080" cy="1536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p>
            <a:pPr>
              <a:spcAft>
                <a:spcPts val="900"/>
              </a:spcAft>
              <a:defRPr sz="1000" b="0">
                <a:solidFill>
                  <a:srgbClr val="5D667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华中科技大学 · 软件测试与质量保证实践 · 模块一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0" name="框架"/>
          <p:cNvSpPr/>
          <p:nvPr/>
        </p:nvSpPr>
        <p:spPr>
          <a:xfrm>
            <a:off x="6482715" y="1582420"/>
            <a:ext cx="5468620" cy="4248785"/>
          </a:xfrm>
          <a:prstGeom prst="rect">
            <a:avLst/>
          </a:prstGeom>
          <a:noFill/>
          <a:ln w="8890">
            <a:solidFill>
              <a:srgbClr val="378ED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11" name="框架"/>
          <p:cNvSpPr/>
          <p:nvPr/>
        </p:nvSpPr>
        <p:spPr>
          <a:xfrm>
            <a:off x="594360" y="3182620"/>
            <a:ext cx="4868545" cy="1184910"/>
          </a:xfrm>
          <a:prstGeom prst="roundRect">
            <a:avLst>
              <a:gd name="adj" fmla="val 8000"/>
            </a:avLst>
          </a:prstGeom>
          <a:solidFill>
            <a:srgbClr val="E7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3" name="独立圆形"/>
          <p:cNvSpPr/>
          <p:nvPr/>
        </p:nvSpPr>
        <p:spPr>
          <a:xfrm>
            <a:off x="765113" y="3324607"/>
            <a:ext cx="437511" cy="437511"/>
          </a:xfrm>
          <a:prstGeom prst="ellipse">
            <a:avLst/>
          </a:prstGeom>
          <a:solidFill>
            <a:srgbClr val="00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0" name="连线"/>
          <p:cNvCxnSpPr/>
          <p:nvPr/>
        </p:nvCxnSpPr>
        <p:spPr>
          <a:xfrm>
            <a:off x="765113" y="3871369"/>
            <a:ext cx="4500245" cy="0"/>
          </a:xfrm>
          <a:prstGeom prst="line">
            <a:avLst/>
          </a:prstGeom>
          <a:ln w="7291">
            <a:solidFill>
              <a:srgbClr val="005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6" name="框架"/>
          <p:cNvSpPr/>
          <p:nvPr/>
        </p:nvSpPr>
        <p:spPr>
          <a:xfrm>
            <a:off x="594360" y="4524375"/>
            <a:ext cx="4868545" cy="1184910"/>
          </a:xfrm>
          <a:prstGeom prst="roundRect">
            <a:avLst>
              <a:gd name="adj" fmla="val 8000"/>
            </a:avLst>
          </a:prstGeom>
          <a:solidFill>
            <a:srgbClr val="E7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17" name="独立圆形"/>
          <p:cNvSpPr/>
          <p:nvPr/>
        </p:nvSpPr>
        <p:spPr>
          <a:xfrm>
            <a:off x="765113" y="4666362"/>
            <a:ext cx="437511" cy="437511"/>
          </a:xfrm>
          <a:prstGeom prst="ellipse">
            <a:avLst/>
          </a:prstGeom>
          <a:solidFill>
            <a:srgbClr val="00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400" b="1"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18" name="连线"/>
          <p:cNvCxnSpPr/>
          <p:nvPr/>
        </p:nvCxnSpPr>
        <p:spPr>
          <a:xfrm>
            <a:off x="765113" y="5213124"/>
            <a:ext cx="4500245" cy="0"/>
          </a:xfrm>
          <a:prstGeom prst="line">
            <a:avLst/>
          </a:prstGeom>
          <a:ln w="7291">
            <a:solidFill>
              <a:srgbClr val="005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9" name="框架"/>
          <p:cNvSpPr/>
          <p:nvPr/>
        </p:nvSpPr>
        <p:spPr>
          <a:xfrm>
            <a:off x="594360" y="1861185"/>
            <a:ext cx="4868545" cy="1184910"/>
          </a:xfrm>
          <a:prstGeom prst="roundRect">
            <a:avLst>
              <a:gd name="adj" fmla="val 8000"/>
            </a:avLst>
          </a:prstGeom>
          <a:solidFill>
            <a:srgbClr val="E7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20" name="独立圆形"/>
          <p:cNvSpPr/>
          <p:nvPr/>
        </p:nvSpPr>
        <p:spPr>
          <a:xfrm>
            <a:off x="765113" y="2003172"/>
            <a:ext cx="437511" cy="437511"/>
          </a:xfrm>
          <a:prstGeom prst="ellipse">
            <a:avLst/>
          </a:prstGeom>
          <a:solidFill>
            <a:srgbClr val="00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21" name="连线"/>
          <p:cNvCxnSpPr/>
          <p:nvPr/>
        </p:nvCxnSpPr>
        <p:spPr>
          <a:xfrm>
            <a:off x="765113" y="2549934"/>
            <a:ext cx="4500245" cy="0"/>
          </a:xfrm>
          <a:prstGeom prst="line">
            <a:avLst/>
          </a:prstGeom>
          <a:ln w="7291">
            <a:solidFill>
              <a:srgbClr val="005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2" name="方向箭头"/>
          <p:cNvSpPr/>
          <p:nvPr/>
        </p:nvSpPr>
        <p:spPr>
          <a:xfrm flipH="1">
            <a:off x="5862799" y="4068417"/>
            <a:ext cx="488554" cy="298966"/>
          </a:xfrm>
          <a:prstGeom prst="rightArrow">
            <a:avLst/>
          </a:prstGeom>
          <a:solidFill>
            <a:srgbClr val="4B9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23" name="框架"/>
          <p:cNvSpPr/>
          <p:nvPr/>
        </p:nvSpPr>
        <p:spPr>
          <a:xfrm>
            <a:off x="6783070" y="1861185"/>
            <a:ext cx="4868545" cy="1184910"/>
          </a:xfrm>
          <a:prstGeom prst="roundRect">
            <a:avLst>
              <a:gd name="adj" fmla="val 8000"/>
            </a:avLst>
          </a:prstGeom>
          <a:solidFill>
            <a:srgbClr val="E7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24" name="独立圆形"/>
          <p:cNvSpPr/>
          <p:nvPr/>
        </p:nvSpPr>
        <p:spPr>
          <a:xfrm>
            <a:off x="6953823" y="2003172"/>
            <a:ext cx="437511" cy="437511"/>
          </a:xfrm>
          <a:prstGeom prst="ellipse">
            <a:avLst/>
          </a:prstGeom>
          <a:solidFill>
            <a:srgbClr val="00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400" b="1"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25" name="连线"/>
          <p:cNvCxnSpPr/>
          <p:nvPr/>
        </p:nvCxnSpPr>
        <p:spPr>
          <a:xfrm>
            <a:off x="6953823" y="2549934"/>
            <a:ext cx="4500245" cy="0"/>
          </a:xfrm>
          <a:prstGeom prst="line">
            <a:avLst/>
          </a:prstGeom>
          <a:ln w="7291">
            <a:solidFill>
              <a:srgbClr val="005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6" name="框架"/>
          <p:cNvSpPr/>
          <p:nvPr/>
        </p:nvSpPr>
        <p:spPr>
          <a:xfrm>
            <a:off x="6783070" y="3173095"/>
            <a:ext cx="4868545" cy="1184910"/>
          </a:xfrm>
          <a:prstGeom prst="roundRect">
            <a:avLst>
              <a:gd name="adj" fmla="val 8000"/>
            </a:avLst>
          </a:prstGeom>
          <a:solidFill>
            <a:srgbClr val="E7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27" name="独立圆形"/>
          <p:cNvSpPr/>
          <p:nvPr/>
        </p:nvSpPr>
        <p:spPr>
          <a:xfrm>
            <a:off x="6953823" y="3315082"/>
            <a:ext cx="437511" cy="437511"/>
          </a:xfrm>
          <a:prstGeom prst="ellipse">
            <a:avLst/>
          </a:prstGeom>
          <a:solidFill>
            <a:srgbClr val="00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28" name="连线"/>
          <p:cNvCxnSpPr/>
          <p:nvPr/>
        </p:nvCxnSpPr>
        <p:spPr>
          <a:xfrm>
            <a:off x="6953823" y="3861844"/>
            <a:ext cx="4500245" cy="0"/>
          </a:xfrm>
          <a:prstGeom prst="line">
            <a:avLst/>
          </a:prstGeom>
          <a:ln w="7291">
            <a:solidFill>
              <a:srgbClr val="005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9" name="框架"/>
          <p:cNvSpPr/>
          <p:nvPr/>
        </p:nvSpPr>
        <p:spPr>
          <a:xfrm>
            <a:off x="6783070" y="4524375"/>
            <a:ext cx="4868545" cy="1184910"/>
          </a:xfrm>
          <a:prstGeom prst="roundRect">
            <a:avLst>
              <a:gd name="adj" fmla="val 8000"/>
            </a:avLst>
          </a:prstGeom>
          <a:solidFill>
            <a:srgbClr val="E7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30" name="独立圆形"/>
          <p:cNvSpPr/>
          <p:nvPr/>
        </p:nvSpPr>
        <p:spPr>
          <a:xfrm>
            <a:off x="6953823" y="4666362"/>
            <a:ext cx="437511" cy="437511"/>
          </a:xfrm>
          <a:prstGeom prst="ellipse">
            <a:avLst/>
          </a:prstGeom>
          <a:solidFill>
            <a:srgbClr val="00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31" name="连线"/>
          <p:cNvCxnSpPr/>
          <p:nvPr/>
        </p:nvCxnSpPr>
        <p:spPr>
          <a:xfrm>
            <a:off x="6953823" y="5213124"/>
            <a:ext cx="4500245" cy="0"/>
          </a:xfrm>
          <a:prstGeom prst="line">
            <a:avLst/>
          </a:prstGeom>
          <a:ln w="7291">
            <a:solidFill>
              <a:srgbClr val="005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2" name="文字：特征迁移：用 W M_s 组合正常原型，贴近查询特征"/>
          <p:cNvSpPr txBox="1"/>
          <p:nvPr/>
        </p:nvSpPr>
        <p:spPr>
          <a:xfrm>
            <a:off x="1373505" y="2003425"/>
            <a:ext cx="3891915" cy="4254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p>
            <a:pPr algn="l" font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56A6"/>
                </a:solidFill>
                <a:latin typeface="微软雅黑" panose="020B0503020204020204" charset="-122"/>
                <a:ea typeface="微软雅黑" panose="020B0503020204020204" charset="-122"/>
              </a:rPr>
              <a:t>用例有依据、可追溯</a:t>
            </a:r>
            <a:endParaRPr sz="2000" b="1" i="0">
              <a:solidFill>
                <a:srgbClr val="005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3" name="文字：特征迁移：用 W M_s 组合正常原型，贴近查询特征"/>
          <p:cNvSpPr txBox="1"/>
          <p:nvPr/>
        </p:nvSpPr>
        <p:spPr>
          <a:xfrm>
            <a:off x="1373505" y="3315335"/>
            <a:ext cx="3891915" cy="4254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p>
            <a:pPr algn="l" font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56A6"/>
                </a:solidFill>
                <a:latin typeface="微软雅黑" panose="020B0503020204020204" charset="-122"/>
                <a:ea typeface="微软雅黑" panose="020B0503020204020204" charset="-122"/>
              </a:rPr>
              <a:t>上游交叉回归</a:t>
            </a:r>
            <a:endParaRPr sz="2000" b="1" i="0">
              <a:solidFill>
                <a:srgbClr val="005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4" name="文字：特征迁移：用 W M_s 组合正常原型，贴近查询特征"/>
          <p:cNvSpPr txBox="1"/>
          <p:nvPr/>
        </p:nvSpPr>
        <p:spPr>
          <a:xfrm>
            <a:off x="1373505" y="4678680"/>
            <a:ext cx="3891915" cy="4254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p>
            <a:pPr algn="l" font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56A6"/>
                </a:solidFill>
                <a:latin typeface="微软雅黑" panose="020B0503020204020204" charset="-122"/>
                <a:ea typeface="微软雅黑" panose="020B0503020204020204" charset="-122"/>
              </a:rPr>
              <a:t>跨模块共同根因</a:t>
            </a:r>
            <a:endParaRPr sz="2000" b="1" i="0">
              <a:solidFill>
                <a:srgbClr val="005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5" name="文字：特征迁移：用 W M_s 组合正常原型，贴近查询特征"/>
          <p:cNvSpPr txBox="1"/>
          <p:nvPr/>
        </p:nvSpPr>
        <p:spPr>
          <a:xfrm>
            <a:off x="7488555" y="2015490"/>
            <a:ext cx="3891915" cy="4254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p>
            <a:pPr algn="l" font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56A6"/>
                </a:solidFill>
                <a:latin typeface="微软雅黑" panose="020B0503020204020204" charset="-122"/>
                <a:ea typeface="微软雅黑" panose="020B0503020204020204" charset="-122"/>
              </a:rPr>
              <a:t>崩溃级缺陷提前拦住</a:t>
            </a:r>
            <a:endParaRPr sz="2000" b="1" i="0">
              <a:solidFill>
                <a:srgbClr val="005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6" name="文字：特征迁移：用 W M_s 组合正常原型，贴近查询特征"/>
          <p:cNvSpPr txBox="1"/>
          <p:nvPr/>
        </p:nvSpPr>
        <p:spPr>
          <a:xfrm>
            <a:off x="7488555" y="3315335"/>
            <a:ext cx="3891915" cy="4254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p>
            <a:pPr algn="l" font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56A6"/>
                </a:solidFill>
                <a:latin typeface="微软雅黑" panose="020B0503020204020204" charset="-122"/>
                <a:ea typeface="微软雅黑" panose="020B0503020204020204" charset="-122"/>
              </a:rPr>
              <a:t>对照式用例定位分支</a:t>
            </a:r>
            <a:endParaRPr sz="2000" b="1" i="0">
              <a:solidFill>
                <a:srgbClr val="005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7" name="文字：特征迁移：用 W M_s 组合正常原型，贴近查询特征"/>
          <p:cNvSpPr txBox="1"/>
          <p:nvPr/>
        </p:nvSpPr>
        <p:spPr>
          <a:xfrm>
            <a:off x="7488555" y="4666615"/>
            <a:ext cx="3891915" cy="4254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p>
            <a:pPr algn="l" font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56A6"/>
                </a:solidFill>
                <a:latin typeface="微软雅黑" panose="020B0503020204020204" charset="-122"/>
                <a:ea typeface="微软雅黑" panose="020B0503020204020204" charset="-122"/>
              </a:rPr>
              <a:t>工程规范可复核</a:t>
            </a:r>
            <a:endParaRPr sz="2000" b="1" i="0">
              <a:solidFill>
                <a:srgbClr val="005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8" name="文字：从查询图像的特征出发，将查询特征迁移到增强的原型上；"/>
          <p:cNvSpPr txBox="1"/>
          <p:nvPr/>
        </p:nvSpPr>
        <p:spPr>
          <a:xfrm>
            <a:off x="772795" y="2568575"/>
            <a:ext cx="4493260" cy="54165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</a:rPr>
              <a:t>44 条预期值全部手算或按源码语义推导，编号贯通清单、脚本与报告</a:t>
            </a:r>
            <a:endParaRPr sz="1320" b="0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9" name="文字：从查询图像的特征出发，将查询特征迁移到增强的原型上；"/>
          <p:cNvSpPr txBox="1"/>
          <p:nvPr/>
        </p:nvSpPr>
        <p:spPr>
          <a:xfrm>
            <a:off x="765175" y="3871595"/>
            <a:ext cx="4493260" cy="54165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</a:rPr>
              <a:t>不只看自己的 24 条，还跑了上游 448 条：失败 77 → 2，修复没有掩盖问题</a:t>
            </a:r>
            <a:endParaRPr sz="1320" b="0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0" name="文字：从查询图像的特征出发，将查询特征迁移到增强的原型上；"/>
          <p:cNvSpPr txBox="1"/>
          <p:nvPr/>
        </p:nvSpPr>
        <p:spPr>
          <a:xfrm>
            <a:off x="772795" y="5213350"/>
            <a:ext cx="4493260" cy="54165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</a:rPr>
              <a:t>A3 与可读性侧 D1、D2 同属句子切分问题，两人分别发现后统一修复口径</a:t>
            </a:r>
            <a:endParaRPr sz="1320" b="0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1" name="文字：从查询图像的特征出发，将查询特征迁移到增强的原型上；"/>
          <p:cNvSpPr txBox="1"/>
          <p:nvPr/>
        </p:nvSpPr>
        <p:spPr>
          <a:xfrm>
            <a:off x="6953885" y="2568575"/>
            <a:ext cx="4493260" cy="54165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</a:rPr>
              <a:t>A1 让 4 个计数函数在含年份或新词的文本上直接报错，1 行修复解决</a:t>
            </a:r>
            <a:endParaRPr sz="1320" b="0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2" name="文字：从查询图像的特征出发，将查询特征迁移到增强的原型上；"/>
          <p:cNvSpPr txBox="1"/>
          <p:nvPr/>
        </p:nvSpPr>
        <p:spPr>
          <a:xfrm>
            <a:off x="6960870" y="3862070"/>
            <a:ext cx="4493260" cy="54165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</a:rPr>
              <a:t>常规文本与未收录词文本放在同一条用例，失败精确落到词典未命中分支</a:t>
            </a:r>
            <a:endParaRPr sz="1320" b="0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3" name="文字：从查询图像的特征出发，将查询特征迁移到增强的原型上；"/>
          <p:cNvSpPr txBox="1"/>
          <p:nvPr/>
        </p:nvSpPr>
        <p:spPr>
          <a:xfrm>
            <a:off x="6960870" y="5213350"/>
            <a:ext cx="4493260" cy="54165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</a:rPr>
              <a:t>9 个脚本分 9 次提交、缺陷各自单独提交，报告与清单数字一致</a:t>
            </a:r>
            <a:endParaRPr sz="1320" b="0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页眉校园配图" descr="crop_3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56267"/>
          </a:xfrm>
          <a:prstGeom prst="rect">
            <a:avLst/>
          </a:prstGeom>
        </p:spPr>
      </p:pic>
      <p:pic>
        <p:nvPicPr>
          <p:cNvPr id="3" name="校徽与校名标识" descr="crop_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4" y="36459"/>
            <a:ext cx="2224018" cy="568765"/>
          </a:xfrm>
          <a:prstGeom prst="rect">
            <a:avLst/>
          </a:prstGeom>
        </p:spPr>
      </p:pic>
      <p:sp>
        <p:nvSpPr>
          <p:cNvPr id="4" name="框架"/>
          <p:cNvSpPr/>
          <p:nvPr/>
        </p:nvSpPr>
        <p:spPr>
          <a:xfrm>
            <a:off x="2705282" y="0"/>
            <a:ext cx="1538583" cy="6416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框架"/>
          <p:cNvSpPr/>
          <p:nvPr/>
        </p:nvSpPr>
        <p:spPr>
          <a:xfrm>
            <a:off x="10325281" y="0"/>
            <a:ext cx="1691712" cy="6416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文字：WinCLIP+：让正常参考图补充语言判断"/>
          <p:cNvSpPr txBox="1"/>
          <p:nvPr/>
        </p:nvSpPr>
        <p:spPr>
          <a:xfrm>
            <a:off x="328133" y="816688"/>
            <a:ext cx="8021955" cy="5911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560" b="1">
                <a:solidFill>
                  <a:srgbClr val="002E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典型缺陷复盘：1 行修复换来 77 条回归</a:t>
            </a:r>
            <a:endParaRPr sz="3560" b="1" i="0">
              <a:solidFill>
                <a:srgbClr val="005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字：明德  厚学  求是  创新"/>
          <p:cNvSpPr txBox="1"/>
          <p:nvPr/>
        </p:nvSpPr>
        <p:spPr>
          <a:xfrm>
            <a:off x="9822142" y="6453300"/>
            <a:ext cx="2078181" cy="3135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056A6"/>
                </a:solidFill>
                <a:latin typeface="华文行楷" panose="02010800040101010101" charset="-122"/>
                <a:ea typeface="华文行楷" panose="02010800040101010101" charset="-122"/>
              </a:rPr>
              <a:t>明德  厚学  求是  创新</a:t>
            </a:r>
            <a:endParaRPr sz="1700" b="1" i="0">
              <a:solidFill>
                <a:srgbClr val="0056A6"/>
              </a:solidFill>
              <a:latin typeface="华文行楷" panose="02010800040101010101" charset="-122"/>
              <a:ea typeface="华文行楷" panose="02010800040101010101" charset="-122"/>
            </a:endParaRPr>
          </a:p>
        </p:txBody>
      </p:sp>
      <p:sp>
        <p:nvSpPr>
          <p:cNvPr id="287" name="方向箭头"/>
          <p:cNvSpPr/>
          <p:nvPr/>
        </p:nvSpPr>
        <p:spPr>
          <a:xfrm>
            <a:off x="5862799" y="3182592"/>
            <a:ext cx="488554" cy="298966"/>
          </a:xfrm>
          <a:prstGeom prst="rightArrow">
            <a:avLst/>
          </a:prstGeom>
          <a:solidFill>
            <a:srgbClr val="4B9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框架"/>
          <p:cNvSpPr/>
          <p:nvPr/>
        </p:nvSpPr>
        <p:spPr>
          <a:xfrm>
            <a:off x="262255" y="5995670"/>
            <a:ext cx="11689080" cy="421005"/>
          </a:xfrm>
          <a:prstGeom prst="roundRect">
            <a:avLst>
              <a:gd name="adj" fmla="val 8000"/>
            </a:avLst>
          </a:prstGeom>
          <a:solidFill>
            <a:srgbClr val="E7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文字：相似的思路：正常特征检索；新增的能力：图文语义与多尺度参考融合。"/>
          <p:cNvSpPr txBox="1"/>
          <p:nvPr/>
        </p:nvSpPr>
        <p:spPr>
          <a:xfrm>
            <a:off x="2407506" y="6074123"/>
            <a:ext cx="7508240" cy="5911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8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崩溃级缺陷的特点：一处异常，就让 4 个计数函数在真实文本上完全不可用</a:t>
            </a:r>
            <a:endParaRPr sz="1780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endParaRPr sz="1780" b="1" i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8" name="框架"/>
          <p:cNvSpPr/>
          <p:nvPr/>
        </p:nvSpPr>
        <p:spPr>
          <a:xfrm>
            <a:off x="10452281" y="127000"/>
            <a:ext cx="1691712" cy="6416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82" name="框架"/>
          <p:cNvSpPr/>
          <p:nvPr/>
        </p:nvSpPr>
        <p:spPr>
          <a:xfrm>
            <a:off x="8860155" y="13970"/>
            <a:ext cx="1591945" cy="685165"/>
          </a:xfrm>
          <a:prstGeom prst="rect">
            <a:avLst/>
          </a:prstGeom>
          <a:solidFill>
            <a:srgbClr val="00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94" name="文字：任务定义"/>
          <p:cNvSpPr txBox="1"/>
          <p:nvPr/>
        </p:nvSpPr>
        <p:spPr>
          <a:xfrm>
            <a:off x="2987465" y="-6563"/>
            <a:ext cx="1016000" cy="6642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被测对象</a:t>
            </a:r>
            <a:endParaRPr 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测试范围</a:t>
            </a:r>
            <a:endParaRPr 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5" name="框架"/>
          <p:cNvSpPr/>
          <p:nvPr/>
        </p:nvSpPr>
        <p:spPr>
          <a:xfrm>
            <a:off x="5600332" y="43180"/>
            <a:ext cx="1553167" cy="6416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96" name="文字：研究背景"/>
          <p:cNvSpPr txBox="1"/>
          <p:nvPr/>
        </p:nvSpPr>
        <p:spPr>
          <a:xfrm>
            <a:off x="4483282" y="145837"/>
            <a:ext cx="1016000" cy="3321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用例设计</a:t>
            </a:r>
            <a:endParaRPr 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8" name="文字：问题挑战"/>
          <p:cNvSpPr txBox="1"/>
          <p:nvPr/>
        </p:nvSpPr>
        <p:spPr>
          <a:xfrm>
            <a:off x="5818300" y="145837"/>
            <a:ext cx="1270000" cy="3321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自动化实现</a:t>
            </a:r>
            <a:endParaRPr 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9" name="框架"/>
          <p:cNvSpPr/>
          <p:nvPr/>
        </p:nvSpPr>
        <p:spPr>
          <a:xfrm>
            <a:off x="8888425" y="13970"/>
            <a:ext cx="1713588" cy="6416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00" name="文字：研究方法"/>
          <p:cNvSpPr txBox="1"/>
          <p:nvPr/>
        </p:nvSpPr>
        <p:spPr>
          <a:xfrm>
            <a:off x="7567740" y="145837"/>
            <a:ext cx="1016000" cy="3321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执行结果</a:t>
            </a:r>
            <a:endParaRPr 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1" name="框架"/>
          <p:cNvSpPr/>
          <p:nvPr/>
        </p:nvSpPr>
        <p:spPr>
          <a:xfrm>
            <a:off x="8714265" y="-6350"/>
            <a:ext cx="1531291" cy="6416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02" name="文字：实验结果"/>
          <p:cNvSpPr txBox="1"/>
          <p:nvPr/>
        </p:nvSpPr>
        <p:spPr>
          <a:xfrm>
            <a:off x="9117262" y="145837"/>
            <a:ext cx="1016000" cy="3321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缺陷分析</a:t>
            </a:r>
            <a:endParaRPr 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3" name="文字：总结展望"/>
          <p:cNvSpPr txBox="1"/>
          <p:nvPr/>
        </p:nvSpPr>
        <p:spPr>
          <a:xfrm>
            <a:off x="10579888" y="145837"/>
            <a:ext cx="1270000" cy="3321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成员贡献度</a:t>
            </a:r>
            <a:endParaRPr 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4" name="框架"/>
          <p:cNvSpPr/>
          <p:nvPr/>
        </p:nvSpPr>
        <p:spPr>
          <a:xfrm>
            <a:off x="262072" y="1582143"/>
            <a:ext cx="5468899" cy="4258449"/>
          </a:xfrm>
          <a:prstGeom prst="rect">
            <a:avLst/>
          </a:prstGeom>
          <a:noFill/>
          <a:ln w="8890">
            <a:solidFill>
              <a:srgbClr val="378ED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05" name="TextBox 63"/>
          <p:cNvSpPr txBox="1"/>
          <p:nvPr/>
        </p:nvSpPr>
        <p:spPr>
          <a:xfrm>
            <a:off x="594360" y="6461252"/>
            <a:ext cx="8641080" cy="1536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p>
            <a:pPr>
              <a:spcAft>
                <a:spcPts val="900"/>
              </a:spcAft>
              <a:defRPr sz="1000" b="0">
                <a:solidFill>
                  <a:srgbClr val="5D667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华中科技大学 · 软件测试与质量保证实践 · 模块一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0" name="框架"/>
          <p:cNvSpPr/>
          <p:nvPr/>
        </p:nvSpPr>
        <p:spPr>
          <a:xfrm>
            <a:off x="6482715" y="1582420"/>
            <a:ext cx="5468620" cy="4258310"/>
          </a:xfrm>
          <a:prstGeom prst="rect">
            <a:avLst/>
          </a:prstGeom>
          <a:noFill/>
          <a:ln w="8890">
            <a:solidFill>
              <a:srgbClr val="378ED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11" name="框架"/>
          <p:cNvSpPr/>
          <p:nvPr/>
        </p:nvSpPr>
        <p:spPr>
          <a:xfrm>
            <a:off x="419735" y="3999865"/>
            <a:ext cx="5163820" cy="1640840"/>
          </a:xfrm>
          <a:prstGeom prst="roundRect">
            <a:avLst>
              <a:gd name="adj" fmla="val 8000"/>
            </a:avLst>
          </a:prstGeom>
          <a:solidFill>
            <a:srgbClr val="E7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3" name="独立圆形"/>
          <p:cNvSpPr/>
          <p:nvPr/>
        </p:nvSpPr>
        <p:spPr>
          <a:xfrm>
            <a:off x="590550" y="4042410"/>
            <a:ext cx="454025" cy="461010"/>
          </a:xfrm>
          <a:prstGeom prst="ellipse">
            <a:avLst/>
          </a:prstGeom>
          <a:solidFill>
            <a:srgbClr val="00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0" name="连线"/>
          <p:cNvCxnSpPr/>
          <p:nvPr/>
        </p:nvCxnSpPr>
        <p:spPr>
          <a:xfrm>
            <a:off x="590488" y="4594634"/>
            <a:ext cx="4693920" cy="0"/>
          </a:xfrm>
          <a:prstGeom prst="line">
            <a:avLst/>
          </a:prstGeom>
          <a:ln w="7291">
            <a:solidFill>
              <a:srgbClr val="005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9" name="框架"/>
          <p:cNvSpPr/>
          <p:nvPr/>
        </p:nvSpPr>
        <p:spPr>
          <a:xfrm>
            <a:off x="419735" y="1929765"/>
            <a:ext cx="5180965" cy="1551940"/>
          </a:xfrm>
          <a:prstGeom prst="roundRect">
            <a:avLst>
              <a:gd name="adj" fmla="val 8000"/>
            </a:avLst>
          </a:prstGeom>
          <a:solidFill>
            <a:srgbClr val="E7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20" name="独立圆形"/>
          <p:cNvSpPr/>
          <p:nvPr/>
        </p:nvSpPr>
        <p:spPr>
          <a:xfrm>
            <a:off x="590550" y="1991995"/>
            <a:ext cx="455930" cy="420370"/>
          </a:xfrm>
          <a:prstGeom prst="ellipse">
            <a:avLst/>
          </a:prstGeom>
          <a:solidFill>
            <a:srgbClr val="00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21" name="连线"/>
          <p:cNvCxnSpPr/>
          <p:nvPr/>
        </p:nvCxnSpPr>
        <p:spPr>
          <a:xfrm>
            <a:off x="590488" y="2518184"/>
            <a:ext cx="4693285" cy="0"/>
          </a:xfrm>
          <a:prstGeom prst="line">
            <a:avLst/>
          </a:prstGeom>
          <a:ln w="7291">
            <a:solidFill>
              <a:srgbClr val="005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3" name="框架"/>
          <p:cNvSpPr/>
          <p:nvPr/>
        </p:nvSpPr>
        <p:spPr>
          <a:xfrm>
            <a:off x="6783070" y="1861185"/>
            <a:ext cx="4923155" cy="2181225"/>
          </a:xfrm>
          <a:prstGeom prst="roundRect">
            <a:avLst>
              <a:gd name="adj" fmla="val 8000"/>
            </a:avLst>
          </a:prstGeom>
          <a:solidFill>
            <a:srgbClr val="E7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24" name="独立圆形"/>
          <p:cNvSpPr/>
          <p:nvPr/>
        </p:nvSpPr>
        <p:spPr>
          <a:xfrm>
            <a:off x="6953823" y="2003172"/>
            <a:ext cx="437511" cy="437511"/>
          </a:xfrm>
          <a:prstGeom prst="ellipse">
            <a:avLst/>
          </a:prstGeom>
          <a:solidFill>
            <a:srgbClr val="00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400" b="1"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25" name="连线"/>
          <p:cNvCxnSpPr/>
          <p:nvPr/>
        </p:nvCxnSpPr>
        <p:spPr>
          <a:xfrm>
            <a:off x="6953823" y="2549934"/>
            <a:ext cx="4500245" cy="0"/>
          </a:xfrm>
          <a:prstGeom prst="line">
            <a:avLst/>
          </a:prstGeom>
          <a:ln w="7291">
            <a:solidFill>
              <a:srgbClr val="005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9" name="框架"/>
          <p:cNvSpPr/>
          <p:nvPr/>
        </p:nvSpPr>
        <p:spPr>
          <a:xfrm>
            <a:off x="6783070" y="4298950"/>
            <a:ext cx="4868545" cy="1541780"/>
          </a:xfrm>
          <a:prstGeom prst="roundRect">
            <a:avLst>
              <a:gd name="adj" fmla="val 8000"/>
            </a:avLst>
          </a:prstGeom>
          <a:solidFill>
            <a:srgbClr val="E7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30" name="独立圆形"/>
          <p:cNvSpPr/>
          <p:nvPr/>
        </p:nvSpPr>
        <p:spPr>
          <a:xfrm>
            <a:off x="6953823" y="4433317"/>
            <a:ext cx="437511" cy="437511"/>
          </a:xfrm>
          <a:prstGeom prst="ellipse">
            <a:avLst/>
          </a:prstGeom>
          <a:solidFill>
            <a:srgbClr val="00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31" name="连线"/>
          <p:cNvCxnSpPr/>
          <p:nvPr/>
        </p:nvCxnSpPr>
        <p:spPr>
          <a:xfrm>
            <a:off x="6953823" y="4908324"/>
            <a:ext cx="4500245" cy="0"/>
          </a:xfrm>
          <a:prstGeom prst="line">
            <a:avLst/>
          </a:prstGeom>
          <a:ln w="7291">
            <a:solidFill>
              <a:srgbClr val="005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2" name="文字：特征迁移：用 W M_s 组合正常原型，贴近查询特征"/>
          <p:cNvSpPr txBox="1"/>
          <p:nvPr/>
        </p:nvSpPr>
        <p:spPr>
          <a:xfrm>
            <a:off x="1198880" y="2041525"/>
            <a:ext cx="4060190" cy="56769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p>
            <a:pPr algn="l" font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0056A6"/>
                </a:solidFill>
                <a:latin typeface="微软雅黑" panose="020B0503020204020204" charset="-122"/>
                <a:ea typeface="微软雅黑" panose="020B0503020204020204" charset="-122"/>
              </a:rPr>
              <a:t>现象</a:t>
            </a:r>
            <a:endParaRPr lang="zh-CN" sz="2000" b="1" i="0">
              <a:solidFill>
                <a:srgbClr val="005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3" name="文字：特征迁移：用 W M_s 组合正常原型，贴近查询特征"/>
          <p:cNvSpPr txBox="1"/>
          <p:nvPr/>
        </p:nvSpPr>
        <p:spPr>
          <a:xfrm>
            <a:off x="1198880" y="4102100"/>
            <a:ext cx="4060190" cy="52959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p>
            <a:pPr algn="l" font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0056A6"/>
                </a:solidFill>
                <a:latin typeface="微软雅黑" panose="020B0503020204020204" charset="-122"/>
                <a:ea typeface="微软雅黑" panose="020B0503020204020204" charset="-122"/>
              </a:rPr>
              <a:t>根本原因</a:t>
            </a:r>
            <a:endParaRPr lang="zh-CN" sz="2000" b="1" i="0">
              <a:solidFill>
                <a:srgbClr val="005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5" name="文字：特征迁移：用 W M_s 组合正常原型，贴近查询特征"/>
          <p:cNvSpPr txBox="1"/>
          <p:nvPr/>
        </p:nvSpPr>
        <p:spPr>
          <a:xfrm>
            <a:off x="7488555" y="2015490"/>
            <a:ext cx="3891915" cy="4254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p>
            <a:pPr algn="l" font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40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修复</a:t>
            </a:r>
            <a:endParaRPr sz="2000" b="1" i="0">
              <a:solidFill>
                <a:srgbClr val="005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7" name="文字：特征迁移：用 W M_s 组合正常原型，贴近查询特征"/>
          <p:cNvSpPr txBox="1"/>
          <p:nvPr/>
        </p:nvSpPr>
        <p:spPr>
          <a:xfrm>
            <a:off x="7488555" y="4503420"/>
            <a:ext cx="3891915" cy="4254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p>
            <a:pPr algn="l" font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0056A6"/>
                </a:solidFill>
                <a:latin typeface="微软雅黑" panose="020B0503020204020204" charset="-122"/>
                <a:ea typeface="微软雅黑" panose="020B0503020204020204" charset="-122"/>
              </a:rPr>
              <a:t>影响与回归</a:t>
            </a:r>
            <a:endParaRPr lang="zh-CN" sz="2000" b="1" i="0">
              <a:solidFill>
                <a:srgbClr val="005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8" name="文字：从查询图像的特征出发，将查询特征迁移到增强的原型上；"/>
          <p:cNvSpPr txBox="1"/>
          <p:nvPr/>
        </p:nvSpPr>
        <p:spPr>
          <a:xfrm>
            <a:off x="590550" y="2640965"/>
            <a:ext cx="5009515" cy="54165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p>
            <a:pPr algn="l">
              <a:defRPr sz="12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文本含年份或词典未收录词时，syllable_count('In 2024 we win.') 直接抛 KeyError: '2024'</a:t>
            </a:r>
            <a:endParaRPr sz="16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39" name="文字：从查询图像的特征出发，将查询特征迁移到增强的原型上；"/>
          <p:cNvSpPr txBox="1"/>
          <p:nvPr/>
        </p:nvSpPr>
        <p:spPr>
          <a:xfrm>
            <a:off x="539750" y="4779645"/>
            <a:ext cx="4919980" cy="67437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p>
            <a:pPr algn="l">
              <a:defRPr sz="12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count_syllables 只捕获 TypeError 与 IndexError，cmudict 1.x 对未收录词抛 KeyError</a:t>
            </a:r>
            <a:r>
              <a:rPr sz="1600">
                <a:sym typeface="+mn-ea"/>
              </a:rPr>
              <a:t>异常未被捕获，pyphen 回退分支从未执行，函数直接中断</a:t>
            </a:r>
            <a:endParaRPr sz="16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 sz="16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41" name="文字：从查询图像的特征出发，将查询特征迁移到增强的原型上；"/>
          <p:cNvSpPr txBox="1"/>
          <p:nvPr/>
        </p:nvSpPr>
        <p:spPr>
          <a:xfrm>
            <a:off x="7019290" y="3371215"/>
            <a:ext cx="4493260" cy="54165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</a:rPr>
              <a:t>1 行修复解决</a:t>
            </a:r>
            <a:endParaRPr sz="1600" b="0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3" name="文字：从查询图像的特征出发，将查询特征迁移到增强的原型上；"/>
          <p:cNvSpPr txBox="1"/>
          <p:nvPr/>
        </p:nvSpPr>
        <p:spPr>
          <a:xfrm>
            <a:off x="7019290" y="4999355"/>
            <a:ext cx="4427855" cy="831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 条对应用例由 NG/POK 转通</a:t>
            </a:r>
            <a:r>
              <a:rPr lang="zh-CN" sz="16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过</a:t>
            </a:r>
            <a:endParaRPr lang="zh-CN" sz="160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defRPr sz="12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上游失败 77 → 2 条</a:t>
            </a:r>
            <a:endParaRPr sz="160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defRPr sz="12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sym typeface="+mn-ea"/>
              </a:rPr>
              <a:t>计数与预处理 24/24 通过</a:t>
            </a:r>
            <a:endParaRPr sz="16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32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defRPr sz="12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 sz="132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方向箭头"/>
          <p:cNvSpPr/>
          <p:nvPr/>
        </p:nvSpPr>
        <p:spPr>
          <a:xfrm>
            <a:off x="5862799" y="4403697"/>
            <a:ext cx="488554" cy="298966"/>
          </a:xfrm>
          <a:prstGeom prst="rightArrow">
            <a:avLst/>
          </a:prstGeom>
          <a:solidFill>
            <a:srgbClr val="4B9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088505" y="2693035"/>
            <a:ext cx="4563745" cy="591820"/>
          </a:xfrm>
          <a:prstGeom prst="rect">
            <a:avLst/>
          </a:prstGeom>
          <a:solidFill>
            <a:srgbClr val="F2F6FB"/>
          </a:solidFill>
          <a:ln w="0">
            <a:noFill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088505" y="2693035"/>
            <a:ext cx="62865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125" b="0">
                <a:solidFill>
                  <a:srgbClr val="5A6B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A6B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except (TypeError, IndexError):</a:t>
            </a:r>
            <a:endParaRPr sz="1125" b="0">
              <a:solidFill>
                <a:srgbClr val="5A6B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019290" y="2940685"/>
            <a:ext cx="62865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125" b="1">
                <a:solidFill>
                  <a:srgbClr val="002E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2E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 except (TypeError, IndexError, KeyError):</a:t>
            </a:r>
            <a:endParaRPr sz="1125" b="1">
              <a:solidFill>
                <a:srgbClr val="002E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页眉校园配图" descr="crop_3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56267"/>
          </a:xfrm>
          <a:prstGeom prst="rect">
            <a:avLst/>
          </a:prstGeom>
        </p:spPr>
      </p:pic>
      <p:pic>
        <p:nvPicPr>
          <p:cNvPr id="3" name="校徽与校名标识" descr="crop_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4" y="36459"/>
            <a:ext cx="2224018" cy="568765"/>
          </a:xfrm>
          <a:prstGeom prst="rect">
            <a:avLst/>
          </a:prstGeom>
        </p:spPr>
      </p:pic>
      <p:sp>
        <p:nvSpPr>
          <p:cNvPr id="4" name="框架"/>
          <p:cNvSpPr/>
          <p:nvPr/>
        </p:nvSpPr>
        <p:spPr>
          <a:xfrm>
            <a:off x="2705282" y="0"/>
            <a:ext cx="1538583" cy="6416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框架"/>
          <p:cNvSpPr/>
          <p:nvPr/>
        </p:nvSpPr>
        <p:spPr>
          <a:xfrm>
            <a:off x="10325281" y="0"/>
            <a:ext cx="1691712" cy="6416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文字：WinCLIP+：让正常参考图补充语言判断"/>
          <p:cNvSpPr txBox="1"/>
          <p:nvPr/>
        </p:nvSpPr>
        <p:spPr>
          <a:xfrm>
            <a:off x="328133" y="816688"/>
            <a:ext cx="1808480" cy="5911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560" b="1" i="0">
                <a:solidFill>
                  <a:srgbClr val="0056A6"/>
                </a:solidFill>
                <a:latin typeface="微软雅黑" panose="020B0503020204020204" charset="-122"/>
                <a:ea typeface="微软雅黑" panose="020B0503020204020204" charset="-122"/>
              </a:rPr>
              <a:t>成员分工</a:t>
            </a:r>
            <a:endParaRPr lang="zh-CN" sz="3560" b="1" i="0">
              <a:solidFill>
                <a:srgbClr val="005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字：明德  厚学  求是  创新"/>
          <p:cNvSpPr txBox="1"/>
          <p:nvPr/>
        </p:nvSpPr>
        <p:spPr>
          <a:xfrm>
            <a:off x="9822142" y="6453300"/>
            <a:ext cx="2078181" cy="3135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056A6"/>
                </a:solidFill>
                <a:latin typeface="华文行楷" panose="02010800040101010101" charset="-122"/>
                <a:ea typeface="华文行楷" panose="02010800040101010101" charset="-122"/>
              </a:rPr>
              <a:t>明德  厚学  求是  创新</a:t>
            </a:r>
            <a:endParaRPr sz="1700" b="1" i="0">
              <a:solidFill>
                <a:srgbClr val="0056A6"/>
              </a:solidFill>
              <a:latin typeface="华文行楷" panose="02010800040101010101" charset="-122"/>
              <a:ea typeface="华文行楷" panose="02010800040101010101" charset="-122"/>
            </a:endParaRPr>
          </a:p>
        </p:txBody>
      </p:sp>
      <p:sp>
        <p:nvSpPr>
          <p:cNvPr id="278" name="框架"/>
          <p:cNvSpPr/>
          <p:nvPr/>
        </p:nvSpPr>
        <p:spPr>
          <a:xfrm>
            <a:off x="10452281" y="127000"/>
            <a:ext cx="1691712" cy="6416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82" name="框架"/>
          <p:cNvSpPr/>
          <p:nvPr/>
        </p:nvSpPr>
        <p:spPr>
          <a:xfrm>
            <a:off x="10440670" y="0"/>
            <a:ext cx="1591945" cy="685165"/>
          </a:xfrm>
          <a:prstGeom prst="rect">
            <a:avLst/>
          </a:prstGeom>
          <a:solidFill>
            <a:srgbClr val="00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94" name="文字：任务定义"/>
          <p:cNvSpPr txBox="1"/>
          <p:nvPr/>
        </p:nvSpPr>
        <p:spPr>
          <a:xfrm>
            <a:off x="2987465" y="-6563"/>
            <a:ext cx="1016000" cy="6642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被测对象</a:t>
            </a:r>
            <a:endParaRPr 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测试范围</a:t>
            </a:r>
            <a:endParaRPr 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5" name="框架"/>
          <p:cNvSpPr/>
          <p:nvPr/>
        </p:nvSpPr>
        <p:spPr>
          <a:xfrm>
            <a:off x="5600332" y="43180"/>
            <a:ext cx="1553167" cy="6416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96" name="文字：研究背景"/>
          <p:cNvSpPr txBox="1"/>
          <p:nvPr/>
        </p:nvSpPr>
        <p:spPr>
          <a:xfrm>
            <a:off x="4483282" y="145837"/>
            <a:ext cx="1016000" cy="3321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用例设计</a:t>
            </a:r>
            <a:endParaRPr 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7" name="框架"/>
          <p:cNvSpPr/>
          <p:nvPr/>
        </p:nvSpPr>
        <p:spPr>
          <a:xfrm>
            <a:off x="5651195" y="0"/>
            <a:ext cx="1516708" cy="68543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98" name="文字：问题挑战"/>
          <p:cNvSpPr txBox="1"/>
          <p:nvPr/>
        </p:nvSpPr>
        <p:spPr>
          <a:xfrm>
            <a:off x="5818300" y="145837"/>
            <a:ext cx="1270000" cy="3321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自动化实现</a:t>
            </a:r>
            <a:endParaRPr 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9" name="框架"/>
          <p:cNvSpPr/>
          <p:nvPr/>
        </p:nvSpPr>
        <p:spPr>
          <a:xfrm>
            <a:off x="10420045" y="20955"/>
            <a:ext cx="1713588" cy="6416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00" name="文字：研究方法"/>
          <p:cNvSpPr txBox="1"/>
          <p:nvPr/>
        </p:nvSpPr>
        <p:spPr>
          <a:xfrm>
            <a:off x="7567740" y="145837"/>
            <a:ext cx="1016000" cy="3321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执行结果</a:t>
            </a:r>
            <a:endParaRPr 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1" name="框架"/>
          <p:cNvSpPr/>
          <p:nvPr/>
        </p:nvSpPr>
        <p:spPr>
          <a:xfrm>
            <a:off x="10508140" y="35560"/>
            <a:ext cx="1531291" cy="6416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02" name="文字：实验结果"/>
          <p:cNvSpPr txBox="1"/>
          <p:nvPr/>
        </p:nvSpPr>
        <p:spPr>
          <a:xfrm>
            <a:off x="9117262" y="145837"/>
            <a:ext cx="1016000" cy="3321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缺陷分析</a:t>
            </a:r>
            <a:endParaRPr 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3" name="文字：总结展望"/>
          <p:cNvSpPr txBox="1"/>
          <p:nvPr/>
        </p:nvSpPr>
        <p:spPr>
          <a:xfrm>
            <a:off x="10579888" y="145837"/>
            <a:ext cx="1270000" cy="3321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成员贡献度</a:t>
            </a:r>
            <a:endParaRPr 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4" name="框架"/>
          <p:cNvSpPr/>
          <p:nvPr/>
        </p:nvSpPr>
        <p:spPr>
          <a:xfrm>
            <a:off x="175260" y="1729105"/>
            <a:ext cx="11863705" cy="4468495"/>
          </a:xfrm>
          <a:prstGeom prst="rect">
            <a:avLst/>
          </a:prstGeom>
          <a:noFill/>
          <a:ln w="8890">
            <a:solidFill>
              <a:srgbClr val="378ED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05" name="TextBox 63"/>
          <p:cNvSpPr txBox="1"/>
          <p:nvPr/>
        </p:nvSpPr>
        <p:spPr>
          <a:xfrm>
            <a:off x="594360" y="6461252"/>
            <a:ext cx="8641080" cy="1536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p>
            <a:pPr>
              <a:spcAft>
                <a:spcPts val="900"/>
              </a:spcAft>
              <a:defRPr sz="1000" b="0">
                <a:solidFill>
                  <a:srgbClr val="5D667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华中科技大学 · 软件测试与质量保证实践 · 模块一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框架"/>
          <p:cNvSpPr/>
          <p:nvPr/>
        </p:nvSpPr>
        <p:spPr>
          <a:xfrm>
            <a:off x="557530" y="1926590"/>
            <a:ext cx="1852295" cy="612775"/>
          </a:xfrm>
          <a:prstGeom prst="rect">
            <a:avLst/>
          </a:prstGeom>
          <a:solidFill>
            <a:srgbClr val="C7E2F7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文字：方法"/>
          <p:cNvSpPr txBox="1"/>
          <p:nvPr/>
        </p:nvSpPr>
        <p:spPr>
          <a:xfrm>
            <a:off x="1267964" y="2060632"/>
            <a:ext cx="584200" cy="3816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95" b="1" i="0">
                <a:solidFill>
                  <a:srgbClr val="0056A6"/>
                </a:solidFill>
                <a:latin typeface="微软雅黑" panose="020B0503020204020204" charset="-122"/>
                <a:ea typeface="微软雅黑" panose="020B0503020204020204" charset="-122"/>
              </a:rPr>
              <a:t>成员</a:t>
            </a:r>
            <a:endParaRPr lang="zh-CN" sz="2295" b="1" i="0">
              <a:solidFill>
                <a:srgbClr val="005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框架"/>
          <p:cNvSpPr/>
          <p:nvPr/>
        </p:nvSpPr>
        <p:spPr>
          <a:xfrm>
            <a:off x="2409190" y="1926590"/>
            <a:ext cx="3455035" cy="612775"/>
          </a:xfrm>
          <a:prstGeom prst="rect">
            <a:avLst/>
          </a:prstGeom>
          <a:solidFill>
            <a:srgbClr val="C7E2F7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文字：正常性的来源"/>
          <p:cNvSpPr txBox="1"/>
          <p:nvPr/>
        </p:nvSpPr>
        <p:spPr>
          <a:xfrm>
            <a:off x="3367596" y="2060632"/>
            <a:ext cx="1168400" cy="3816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95" b="1" i="0">
                <a:solidFill>
                  <a:srgbClr val="0056A6"/>
                </a:solidFill>
                <a:latin typeface="微软雅黑" panose="020B0503020204020204" charset="-122"/>
                <a:ea typeface="微软雅黑" panose="020B0503020204020204" charset="-122"/>
              </a:rPr>
              <a:t>主要工作</a:t>
            </a:r>
            <a:endParaRPr lang="zh-CN" sz="2295" b="1" i="0">
              <a:solidFill>
                <a:srgbClr val="005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框架"/>
          <p:cNvSpPr/>
          <p:nvPr/>
        </p:nvSpPr>
        <p:spPr>
          <a:xfrm>
            <a:off x="5864225" y="1926590"/>
            <a:ext cx="2817495" cy="612775"/>
          </a:xfrm>
          <a:prstGeom prst="rect">
            <a:avLst/>
          </a:prstGeom>
          <a:solidFill>
            <a:srgbClr val="C7E2F7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文字：核心技术"/>
          <p:cNvSpPr txBox="1"/>
          <p:nvPr/>
        </p:nvSpPr>
        <p:spPr>
          <a:xfrm>
            <a:off x="6422675" y="2060632"/>
            <a:ext cx="1460500" cy="3816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95" b="1" i="0">
                <a:solidFill>
                  <a:srgbClr val="0056A6"/>
                </a:solidFill>
                <a:latin typeface="微软雅黑" panose="020B0503020204020204" charset="-122"/>
                <a:ea typeface="微软雅黑" panose="020B0503020204020204" charset="-122"/>
              </a:rPr>
              <a:t>测试用例数</a:t>
            </a:r>
            <a:endParaRPr lang="zh-CN" sz="2295" b="1" i="0">
              <a:solidFill>
                <a:srgbClr val="005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框架"/>
          <p:cNvSpPr/>
          <p:nvPr/>
        </p:nvSpPr>
        <p:spPr>
          <a:xfrm>
            <a:off x="8677275" y="1926590"/>
            <a:ext cx="1516380" cy="612775"/>
          </a:xfrm>
          <a:prstGeom prst="rect">
            <a:avLst/>
          </a:prstGeom>
          <a:solidFill>
            <a:srgbClr val="C7E2F7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文字：主要局限"/>
          <p:cNvSpPr txBox="1"/>
          <p:nvPr/>
        </p:nvSpPr>
        <p:spPr>
          <a:xfrm>
            <a:off x="9037851" y="2060632"/>
            <a:ext cx="876300" cy="3816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95" b="1" i="0">
                <a:solidFill>
                  <a:srgbClr val="0056A6"/>
                </a:solidFill>
                <a:latin typeface="微软雅黑" panose="020B0503020204020204" charset="-122"/>
                <a:ea typeface="微软雅黑" panose="020B0503020204020204" charset="-122"/>
              </a:rPr>
              <a:t>缺陷数</a:t>
            </a:r>
            <a:endParaRPr lang="zh-CN" sz="2295" b="1" i="0">
              <a:solidFill>
                <a:srgbClr val="005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框架"/>
          <p:cNvSpPr/>
          <p:nvPr/>
        </p:nvSpPr>
        <p:spPr>
          <a:xfrm>
            <a:off x="557530" y="2538730"/>
            <a:ext cx="1844040" cy="772795"/>
          </a:xfrm>
          <a:prstGeom prst="rect">
            <a:avLst/>
          </a:prstGeom>
          <a:solidFill>
            <a:srgbClr val="E5F3FE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文字：PatchCore"/>
          <p:cNvSpPr txBox="1"/>
          <p:nvPr/>
        </p:nvSpPr>
        <p:spPr>
          <a:xfrm>
            <a:off x="1154299" y="2765172"/>
            <a:ext cx="811530" cy="3536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25" b="1" i="0">
                <a:solidFill>
                  <a:srgbClr val="0056A6"/>
                </a:solidFill>
                <a:latin typeface="微软雅黑" panose="020B0503020204020204" charset="-122"/>
                <a:ea typeface="微软雅黑" panose="020B0503020204020204" charset="-122"/>
              </a:rPr>
              <a:t>管映涵</a:t>
            </a:r>
            <a:endParaRPr lang="zh-CN" sz="2125" b="1" i="0">
              <a:solidFill>
                <a:srgbClr val="005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框架"/>
          <p:cNvSpPr/>
          <p:nvPr/>
        </p:nvSpPr>
        <p:spPr>
          <a:xfrm>
            <a:off x="2401570" y="2539365"/>
            <a:ext cx="3462655" cy="772160"/>
          </a:xfrm>
          <a:prstGeom prst="rect">
            <a:avLst/>
          </a:prstGeom>
          <a:solidFill>
            <a:srgbClr val="E5F3FE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文字：正常图的局部特征"/>
          <p:cNvSpPr txBox="1"/>
          <p:nvPr/>
        </p:nvSpPr>
        <p:spPr>
          <a:xfrm>
            <a:off x="2230755" y="2539365"/>
            <a:ext cx="3428365" cy="84836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</a:t>
            </a:r>
            <a:r>
              <a:rPr sz="14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计数与预处理：</a:t>
            </a:r>
            <a:endParaRPr sz="140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用例设计、9 个脚本、</a:t>
            </a:r>
            <a:endParaRPr sz="140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缺陷定位与修复、结果整理</a:t>
            </a:r>
            <a:endParaRPr sz="1400" b="1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1" name="框架"/>
          <p:cNvSpPr/>
          <p:nvPr/>
        </p:nvSpPr>
        <p:spPr>
          <a:xfrm>
            <a:off x="5873115" y="2538730"/>
            <a:ext cx="2807970" cy="772795"/>
          </a:xfrm>
          <a:prstGeom prst="rect">
            <a:avLst/>
          </a:prstGeom>
          <a:solidFill>
            <a:srgbClr val="E5F3FE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文字：Coreset记忆库 + 最近邻"/>
          <p:cNvSpPr txBox="1"/>
          <p:nvPr/>
        </p:nvSpPr>
        <p:spPr>
          <a:xfrm>
            <a:off x="7140860" y="2784860"/>
            <a:ext cx="274320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35" b="0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</a:rPr>
              <a:t>24</a:t>
            </a:r>
            <a:endParaRPr lang="en-US" sz="1835" b="0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框架"/>
          <p:cNvSpPr/>
          <p:nvPr/>
        </p:nvSpPr>
        <p:spPr>
          <a:xfrm>
            <a:off x="8682355" y="2538730"/>
            <a:ext cx="1511300" cy="772795"/>
          </a:xfrm>
          <a:prstGeom prst="rect">
            <a:avLst/>
          </a:prstGeom>
          <a:solidFill>
            <a:srgbClr val="E5F3FE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文字：未见正常变化难覆盖"/>
          <p:cNvSpPr txBox="1"/>
          <p:nvPr/>
        </p:nvSpPr>
        <p:spPr>
          <a:xfrm>
            <a:off x="9390276" y="2722630"/>
            <a:ext cx="137160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35" b="0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1835" b="0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框架"/>
          <p:cNvSpPr/>
          <p:nvPr/>
        </p:nvSpPr>
        <p:spPr>
          <a:xfrm>
            <a:off x="557530" y="3312160"/>
            <a:ext cx="1844040" cy="845820"/>
          </a:xfrm>
          <a:prstGeom prst="rect">
            <a:avLst/>
          </a:prstGeom>
          <a:solidFill>
            <a:srgbClr val="E5F3FE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文字：WinCLIP / / WinCLIP+"/>
          <p:cNvSpPr txBox="1"/>
          <p:nvPr/>
        </p:nvSpPr>
        <p:spPr>
          <a:xfrm>
            <a:off x="1154299" y="3557783"/>
            <a:ext cx="811530" cy="3536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25" b="1" i="0">
                <a:solidFill>
                  <a:srgbClr val="0056A6"/>
                </a:solidFill>
                <a:latin typeface="微软雅黑" panose="020B0503020204020204" charset="-122"/>
                <a:ea typeface="微软雅黑" panose="020B0503020204020204" charset="-122"/>
              </a:rPr>
              <a:t>韩迎小</a:t>
            </a:r>
            <a:endParaRPr lang="zh-CN" sz="2125" b="1" i="0">
              <a:solidFill>
                <a:srgbClr val="005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框架"/>
          <p:cNvSpPr/>
          <p:nvPr/>
        </p:nvSpPr>
        <p:spPr>
          <a:xfrm>
            <a:off x="2409190" y="3312160"/>
            <a:ext cx="3429635" cy="845820"/>
          </a:xfrm>
          <a:prstGeom prst="rect">
            <a:avLst/>
          </a:prstGeom>
          <a:solidFill>
            <a:srgbClr val="E5F3FE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文字：文本语义 / / 再加正常参考"/>
          <p:cNvSpPr txBox="1"/>
          <p:nvPr/>
        </p:nvSpPr>
        <p:spPr>
          <a:xfrm>
            <a:off x="2489200" y="3387090"/>
            <a:ext cx="2882265" cy="69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可读性指标：</a:t>
            </a:r>
            <a:endParaRPr lang="en-US" sz="140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用例设计、测试数据、</a:t>
            </a:r>
            <a:endParaRPr lang="en-US" sz="140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17 个脚本、执行与缺陷分析</a:t>
            </a:r>
            <a:endParaRPr sz="1835" b="1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框架"/>
          <p:cNvSpPr/>
          <p:nvPr/>
        </p:nvSpPr>
        <p:spPr>
          <a:xfrm>
            <a:off x="5850255" y="3312160"/>
            <a:ext cx="2830830" cy="845820"/>
          </a:xfrm>
          <a:prstGeom prst="rect">
            <a:avLst/>
          </a:prstGeom>
          <a:solidFill>
            <a:srgbClr val="E5F3FE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文字：组合提示 + 多尺度窗口与关联"/>
          <p:cNvSpPr txBox="1"/>
          <p:nvPr/>
        </p:nvSpPr>
        <p:spPr>
          <a:xfrm>
            <a:off x="7128160" y="3613307"/>
            <a:ext cx="274320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35" b="0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</a:rPr>
              <a:t>20</a:t>
            </a:r>
            <a:endParaRPr lang="en-US" sz="1835" b="0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框架"/>
          <p:cNvSpPr/>
          <p:nvPr/>
        </p:nvSpPr>
        <p:spPr>
          <a:xfrm>
            <a:off x="8678545" y="3312160"/>
            <a:ext cx="1515110" cy="845820"/>
          </a:xfrm>
          <a:prstGeom prst="rect">
            <a:avLst/>
          </a:prstGeom>
          <a:solidFill>
            <a:srgbClr val="E5F3FE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框架"/>
          <p:cNvSpPr/>
          <p:nvPr/>
        </p:nvSpPr>
        <p:spPr>
          <a:xfrm>
            <a:off x="557530" y="4157980"/>
            <a:ext cx="1852295" cy="772795"/>
          </a:xfrm>
          <a:prstGeom prst="rect">
            <a:avLst/>
          </a:prstGeom>
          <a:solidFill>
            <a:srgbClr val="E5F3FE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2125" b="1">
                <a:solidFill>
                  <a:srgbClr val="0056A6"/>
                </a:solidFill>
                <a:latin typeface="微软雅黑" panose="020B0503020204020204" charset="-122"/>
                <a:ea typeface="微软雅黑" panose="020B0503020204020204" charset="-122"/>
              </a:rPr>
              <a:t>合计</a:t>
            </a:r>
            <a:endParaRPr lang="zh-CN" sz="2125" b="1">
              <a:solidFill>
                <a:srgbClr val="005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框架"/>
          <p:cNvSpPr/>
          <p:nvPr/>
        </p:nvSpPr>
        <p:spPr>
          <a:xfrm>
            <a:off x="2409825" y="4157980"/>
            <a:ext cx="3427730" cy="772795"/>
          </a:xfrm>
          <a:prstGeom prst="rect">
            <a:avLst/>
          </a:prstGeom>
          <a:solidFill>
            <a:srgbClr val="E5F3FE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模块一测试与合并报告</a:t>
            </a:r>
            <a:endParaRPr sz="160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7" name="框架"/>
          <p:cNvSpPr/>
          <p:nvPr/>
        </p:nvSpPr>
        <p:spPr>
          <a:xfrm>
            <a:off x="5850255" y="4157980"/>
            <a:ext cx="2830830" cy="772795"/>
          </a:xfrm>
          <a:prstGeom prst="rect">
            <a:avLst/>
          </a:prstGeom>
          <a:solidFill>
            <a:srgbClr val="E5F3FE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35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</a:rPr>
              <a:t>44</a:t>
            </a:r>
            <a:endParaRPr lang="en-US"/>
          </a:p>
        </p:txBody>
      </p:sp>
      <p:sp>
        <p:nvSpPr>
          <p:cNvPr id="49" name="框架"/>
          <p:cNvSpPr/>
          <p:nvPr/>
        </p:nvSpPr>
        <p:spPr>
          <a:xfrm>
            <a:off x="8677275" y="4157980"/>
            <a:ext cx="1516380" cy="772795"/>
          </a:xfrm>
          <a:prstGeom prst="rect">
            <a:avLst/>
          </a:prstGeom>
          <a:solidFill>
            <a:srgbClr val="E5F3FE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文字：未见正常变化难覆盖"/>
          <p:cNvSpPr txBox="1"/>
          <p:nvPr/>
        </p:nvSpPr>
        <p:spPr>
          <a:xfrm>
            <a:off x="9390276" y="3606550"/>
            <a:ext cx="137160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35" b="0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1835" b="0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字：未见正常变化难覆盖"/>
          <p:cNvSpPr txBox="1"/>
          <p:nvPr/>
        </p:nvSpPr>
        <p:spPr>
          <a:xfrm>
            <a:off x="9407421" y="4348230"/>
            <a:ext cx="137160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35" b="0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sz="1835" b="0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框架"/>
          <p:cNvSpPr/>
          <p:nvPr/>
        </p:nvSpPr>
        <p:spPr>
          <a:xfrm>
            <a:off x="10191750" y="1932940"/>
            <a:ext cx="1516380" cy="612775"/>
          </a:xfrm>
          <a:prstGeom prst="rect">
            <a:avLst/>
          </a:prstGeom>
          <a:solidFill>
            <a:srgbClr val="C7E2F7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文字：主要局限"/>
          <p:cNvSpPr txBox="1"/>
          <p:nvPr/>
        </p:nvSpPr>
        <p:spPr>
          <a:xfrm>
            <a:off x="10552326" y="2066982"/>
            <a:ext cx="876300" cy="3816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95" b="1" i="0">
                <a:solidFill>
                  <a:srgbClr val="0056A6"/>
                </a:solidFill>
                <a:latin typeface="微软雅黑" panose="020B0503020204020204" charset="-122"/>
                <a:ea typeface="微软雅黑" panose="020B0503020204020204" charset="-122"/>
              </a:rPr>
              <a:t>贡献度</a:t>
            </a:r>
            <a:endParaRPr lang="zh-CN" sz="2295" b="1" i="0">
              <a:solidFill>
                <a:srgbClr val="005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框架"/>
          <p:cNvSpPr/>
          <p:nvPr/>
        </p:nvSpPr>
        <p:spPr>
          <a:xfrm>
            <a:off x="10196830" y="2545080"/>
            <a:ext cx="1511300" cy="772795"/>
          </a:xfrm>
          <a:prstGeom prst="rect">
            <a:avLst/>
          </a:prstGeom>
          <a:solidFill>
            <a:srgbClr val="E5F3FE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文字：未见正常变化难覆盖"/>
          <p:cNvSpPr txBox="1"/>
          <p:nvPr/>
        </p:nvSpPr>
        <p:spPr>
          <a:xfrm>
            <a:off x="10732349" y="2728980"/>
            <a:ext cx="481965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35" b="0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</a:rPr>
              <a:t>50%</a:t>
            </a:r>
            <a:endParaRPr lang="en-US" sz="1835" b="0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框架"/>
          <p:cNvSpPr/>
          <p:nvPr/>
        </p:nvSpPr>
        <p:spPr>
          <a:xfrm>
            <a:off x="10193020" y="3318510"/>
            <a:ext cx="1515110" cy="845820"/>
          </a:xfrm>
          <a:prstGeom prst="rect">
            <a:avLst/>
          </a:prstGeom>
          <a:solidFill>
            <a:srgbClr val="E5F3FE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框架"/>
          <p:cNvSpPr/>
          <p:nvPr/>
        </p:nvSpPr>
        <p:spPr>
          <a:xfrm>
            <a:off x="10191750" y="4164330"/>
            <a:ext cx="1516380" cy="772795"/>
          </a:xfrm>
          <a:prstGeom prst="rect">
            <a:avLst/>
          </a:prstGeom>
          <a:solidFill>
            <a:srgbClr val="E5F3FE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文字：未见正常变化难覆盖"/>
          <p:cNvSpPr txBox="1"/>
          <p:nvPr/>
        </p:nvSpPr>
        <p:spPr>
          <a:xfrm>
            <a:off x="10732349" y="3612900"/>
            <a:ext cx="481965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35" b="0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</a:rPr>
              <a:t>50%</a:t>
            </a:r>
            <a:endParaRPr lang="en-US" sz="1835" b="0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文字：未见正常变化难覆盖"/>
          <p:cNvSpPr txBox="1"/>
          <p:nvPr/>
        </p:nvSpPr>
        <p:spPr>
          <a:xfrm>
            <a:off x="10680914" y="4354580"/>
            <a:ext cx="619125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35" b="0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</a:rPr>
              <a:t>100%</a:t>
            </a:r>
            <a:endParaRPr lang="en-US" sz="1835" b="0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608330" y="5156835"/>
            <a:ext cx="108204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250" b="1">
                <a:solidFill>
                  <a:srgbClr val="0040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040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谢谢，欢迎提问</a:t>
            </a:r>
            <a:r>
              <a:rPr lang="en-US" sz="2250" b="1">
                <a:solidFill>
                  <a:srgbClr val="0040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!</a:t>
            </a:r>
            <a:endParaRPr lang="en-US" sz="2250" b="1">
              <a:solidFill>
                <a:srgbClr val="00409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666750" y="5607050"/>
            <a:ext cx="9525000" cy="37909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5A6B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200" b="1" i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仓库链接：https://github.com/GuanYinghan0507/textstat</a:t>
            </a:r>
            <a:endParaRPr lang="zh-CN" sz="1200" b="1" i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00" b="0">
                <a:solidFill>
                  <a:srgbClr val="5A6B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200" b="1" i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该实践作业</a:t>
            </a:r>
            <a:r>
              <a:rPr sz="1200" b="1" i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全部提交使用个人 GitHub 账号，提交历史可核对分工与工作</a:t>
            </a:r>
            <a:r>
              <a:rPr sz="12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量</a:t>
            </a:r>
            <a:endParaRPr sz="12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WNmYmUxZDM3ODI4NzE5NTg4NjUyNjcxMTczOTM2MzY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2983</Words>
  <Application>WPS 演示</Application>
  <PresentationFormat>On-screen Show (4:3)</PresentationFormat>
  <Paragraphs>469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宋体</vt:lpstr>
      <vt:lpstr>Wingdings</vt:lpstr>
      <vt:lpstr>Arial</vt:lpstr>
      <vt:lpstr>微软雅黑</vt:lpstr>
      <vt:lpstr>华文行楷</vt:lpstr>
      <vt:lpstr>Times New Roman</vt:lpstr>
      <vt:lpstr>Arial Unicode MS</vt:lpstr>
      <vt:lpstr>Calibri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WPS_1717549641</cp:lastModifiedBy>
  <cp:revision>53</cp:revision>
  <dcterms:created xsi:type="dcterms:W3CDTF">2026-09-14T06:58:00Z</dcterms:created>
  <dcterms:modified xsi:type="dcterms:W3CDTF">2026-09-15T05:15:53Z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54764EFA0D924241A26C33984044F53E_13</vt:lpwstr>
  </property>
  <property fmtid="{D5CDD505-2E9C-101B-9397-08002B2CF9AE}" pid="3" name="KSOProductBuildVer">
    <vt:lpwstr>2052-12.1.0.16929</vt:lpwstr>
  </property>
</Properties>
</file>